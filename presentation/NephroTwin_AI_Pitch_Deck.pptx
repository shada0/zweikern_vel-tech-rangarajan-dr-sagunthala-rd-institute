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9" r:id="rId24"/>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DM Sans" pitchFamily="34" charset="0"/>
      <p:regular r:id="rId20"/>
      <p:bold r:id="rId21"/>
      <p:italic r:id="rId22"/>
      <p:bold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vision: predict the risk, understand the patient, plan dialysis more safely. Name the team and college. State the disclaimer up front: this is a simulated research prototype, and we report the real-data result honestly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IDH is the clinical pain point: fluid removal can outrun the body’s refill. The key insight is variability, both between patients and between sessions, which is why population-level scores fall short. In the open HEMOBP dataset 9.5% of sessions had a hypotensive reading. Our goal is to estimate the risk before the session starts, show why, and let clinicians explore scenarios without issuing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twin, not a renamed classifier: the patient state persists and updates. Initialise from history with MAP least squares and an empirical-Bayes prior learned from training patients only. Update with a Kalman filter that fuses home and clinic weights. Simulate with the two-compartment ODE and Monte Carlo to get the probability of SBP below 90 mmHg, for the planned session and for what-if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 A is the static and historical record; Stream B is dynamic: home weight, cuff BP, wearable signals and weather. BP is a cuff reading, not a wearable measurement. The leakage controls are the credibility point: prediction happens at connection time, twin parameters for session n use only earlier sessions, and automated tests assert that outcome columns never enter the features. Real HEMOBP data has no wearable, weather or lab streams, so those remain synthetic and are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Both streams are preprocessed with leakage controls, then feed the patient-specific state estimation. The engine combines MAP least squares with shrinkage and a Kalman filter, a two-compartment fluid ODE, a BP response with AR(1) noise, and Monte Carlo risk with Platt calibration. We compare four models: population baseline, twin, hybrid, and the ablation with population parameters. Outputs are risk with uncertainty, what-if simulation, and the clinician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on the synthetic cohort the personalized twin reaches 0.977 against 0.949 for logistic regression, a +0.028 difference with a patient-cluster bootstrap CI of +0.015 to +0.043. The ablation with population parameters scores 0.879, so personalization is what adds value. Caveat: the twin’s structure resembles the generator, so this is optimistic and not clinical evidence. Right: on real HEMOBP data the twin alone does NOT beat the standard model, 0.736 against 0.863, because readings are sparse. The hybrid matches the standard model at 0.871. We report this negative result openly. Personalization still helps against the population-parameter twin, 0.607 to 0.736.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Streamlit app here if possible. The 13 views are grouped into unit, patient, story and trust. The Ravi guided demo walks seven steps: overview, dynamic data update, heat-wave toggle, twin update with a what-changed table, risk flag with explanations, what-if planner with non-directive wording, and a closing clinical-review step. The risk is computed by the twin, not hard-coded. The heat-wave rule is a documented synthetic rule, and the 2.8 kg gain is a demonstration input. Demo video: [Video Link]. Repo: [Repo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business case in one view. The value to chains and hospitals is fewer emergency interventions, shorter nurse intervention time, fewer early terminations and better retention and survival; these are targets we will measure in the prospective study, not results. Pricing is a per-patient-per-month licence for outpatient centers plus an enterprise EHR integration fee. The ROI model is transparent: the bracketed inputs get filled from Phase 1 data and the team’s own cost assumptions, so we do not claim a savings number yet. Fill in the bracketed prices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the global dialysis market, about $95B+, covering 3.8M+ end-stage renal disease patients. SAM: software and AI clinical decision support in North American and European dialysis clinics, about $3.2B. SOM: our initial rollout to the top 50 regional outpatient dialysis chains, about $120M addressable. These figures are the team’s estimates; add sources for each before presenting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Phase 1: an IRB-approved prospective observational study with partner clinics, to validate real-world continuous monitoring with richer data. Phase 2: the regulatory pathway as Software as a Medical Device, a clinical decision support tool, via FDA 510(k) and CE mark; confirm the exact route with regulatory counsel. Phase 3: scale through strategic integration partnerships with dialysis machine manufacturers such as Fresenius and Baxter and EHR providers such as Epic and Cerner; these are target partners, with no agreements in place. Fill in the timeline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three approaches. Static rules are transparent but generic. Standard machine learning learns from population features and gives a probability, but has no physiology and no mechanistic what-if. NephroTwin keeps a per-patient state, explains with physiology parameters and fluid state, simulates scenarios, and carries uncertainty. Be candid: on real data the hybrid is about on par with the standard model, so our advantage is explainability and simulation, not a large AUC gain. No named competitor products are claimed here; add a competitor row if you have verified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and honesty are part of the product. This is a simulated research prototype and says so everywhere. Planner wording is deliberately non-directive. We state plainly that the twin alone loses to the standard model on real HEMOBP data, that synthetic superiority is not evidence of clinical effectiveness, and that the heat-wave inputs follow a documented synthetic rule. Any real use needs clinical validation, regulatory review, data-protection review and expert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roadmap: validate prospectively, improve identifiability with hierarchical Bayesian pooling, run a usability study, then regulate and scale. State the ask clearly: clinic partners for the Phase 1 study, nephrology advisors, and your funding or support request. Fill in the repo and video links and the ask before presenting. Thank the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live dashboard if possible. Left: Ravi baseline vs heat wave, computed by the twin (4% to 55%). Right: real HEMOBP ROC curves. Be candid that the twin alone trails the standard model on real data and the hybrid is on par.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9" y="1247074"/>
            <a:ext cx="10566444" cy="419095"/>
          </a:xfrm>
          <a:prstGeom prst="rect">
            <a:avLst/>
          </a:prstGeom>
          <a:noFill/>
          <a:ln/>
        </p:spPr>
        <p:txBody>
          <a:bodyPr wrap="square" lIns="0" tIns="0" rIns="0" bIns="0" rtlCol="0" anchor="t"/>
          <a:lstStyle>
            <a:lvl1pPr algn="l" indent="0" marL="0">
              <a:lnSpc>
                <a:spcPct val="115000"/>
              </a:lnSpc>
              <a:buNone/>
              <a:defRPr lang="en-US" sz="3000" dirty="0">
                <a:solidFill>
                  <a:srgbClr val="EAF3F6"/>
                </a:solidFill>
                <a:latin typeface="DM Sans" pitchFamily="34" charset="0"/>
                <a:ea typeface="DM Sans" pitchFamily="34" charset="-122"/>
                <a:cs typeface="DM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59" y="1970969"/>
            <a:ext cx="10566441" cy="4074231"/>
          </a:xfrm>
          <a:prstGeom prst="rect">
            <a:avLst/>
          </a:prstGeom>
          <a:noFill/>
          <a:ln/>
        </p:spPr>
        <p:txBody>
          <a:bodyPr wrap="square" lIns="0" tIns="0" rIns="0" bIns="0" rtlCol="0" anchor="t"/>
          <a:lstStyle>
            <a:lvl1pPr algn="l" indent="0" marL="0">
              <a:lnSpc>
                <a:spcPct val="140000"/>
              </a:lnSpc>
              <a:buNone/>
              <a:defRPr lang="en-US" sz="1600" dirty="0">
                <a:solidFill>
                  <a:srgbClr val="EAF3F6"/>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9" y="1247074"/>
            <a:ext cx="10566444" cy="419095"/>
          </a:xfrm>
          <a:prstGeom prst="rect">
            <a:avLst/>
          </a:prstGeom>
          <a:noFill/>
          <a:ln/>
        </p:spPr>
        <p:txBody>
          <a:bodyPr wrap="square" lIns="0" tIns="0" rIns="0" bIns="0" rtlCol="0" anchor="t"/>
          <a:lstStyle>
            <a:lvl1pPr algn="l" indent="0" marL="0">
              <a:lnSpc>
                <a:spcPct val="115000"/>
              </a:lnSpc>
              <a:buNone/>
              <a:defRPr lang="en-US" sz="3000" dirty="0">
                <a:solidFill>
                  <a:srgbClr val="EAF3F6"/>
                </a:solidFill>
                <a:latin typeface="DM Sans" pitchFamily="34" charset="0"/>
                <a:ea typeface="DM Sans" pitchFamily="34" charset="-122"/>
                <a:cs typeface="DM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59" y="1970969"/>
            <a:ext cx="10566441" cy="4074231"/>
          </a:xfrm>
          <a:prstGeom prst="rect">
            <a:avLst/>
          </a:prstGeom>
          <a:noFill/>
          <a:ln/>
        </p:spPr>
        <p:txBody>
          <a:bodyPr wrap="square" lIns="0" tIns="0" rIns="0" bIns="0" rtlCol="0" anchor="t"/>
          <a:lstStyle>
            <a:lvl1pPr algn="l" indent="0" marL="0">
              <a:lnSpc>
                <a:spcPct val="140000"/>
              </a:lnSpc>
              <a:buNone/>
              <a:defRPr lang="en-US" sz="1600" dirty="0">
                <a:solidFill>
                  <a:srgbClr val="EAF3F6"/>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E"/>
        </a:solidFill>
      </p:bgPr>
    </p:bg>
    <p:spTree>
      <p:nvGrpSpPr>
        <p:cNvPr id="1" name=""/>
        <p:cNvGrpSpPr/>
        <p:nvPr/>
      </p:nvGrpSpPr>
      <p:grpSpPr>
        <a:xfrm>
          <a:off x="0" y="0"/>
          <a:ext cx="0" cy="0"/>
          <a:chOff x="0" y="0"/>
          <a:chExt cx="0" cy="0"/>
        </a:xfrm>
      </p:grpSpPr>
      <p:sp>
        <p:nvSpPr>
          <p:cNvPr id="2" name="Text 0"/>
          <p:cNvSpPr/>
          <p:nvPr/>
        </p:nvSpPr>
        <p:spPr>
          <a:xfrm>
            <a:off x="812759" y="812759"/>
            <a:ext cx="10883438" cy="254470"/>
          </a:xfrm>
          <a:prstGeom prst="rect">
            <a:avLst/>
          </a:prstGeom>
          <a:noFill/>
          <a:ln/>
        </p:spPr>
        <p:txBody>
          <a:bodyPr wrap="square" lIns="0" tIns="0" rIns="0" bIns="0" rtlCol="0" anchor="t">
            <a:normAutofit/>
          </a:bodyPr>
          <a:lstStyle/>
          <a:p>
            <a:pPr algn="l" indent="0" marL="0">
              <a:lnSpc>
                <a:spcPts val="1825"/>
              </a:lnSpc>
              <a:buNone/>
            </a:pPr>
            <a:r>
              <a:rPr lang="en-US" sz="1304" b="1" spc="100" kern="0" dirty="0">
                <a:solidFill>
                  <a:srgbClr val="2DD4BF"/>
                </a:solidFill>
                <a:latin typeface="DM Sans" pitchFamily="34" charset="0"/>
                <a:ea typeface="DM Sans" pitchFamily="34" charset="-122"/>
                <a:cs typeface="DM Sans" pitchFamily="34" charset="-120"/>
              </a:rPr>
              <a:t>🩺 HAPPIEST HEALTH DIGITAL TWIN CHALLENGE 2026</a:t>
            </a:r>
            <a:endParaRPr lang="en-US" sz="1304" dirty="0"/>
          </a:p>
        </p:txBody>
      </p:sp>
      <p:sp>
        <p:nvSpPr>
          <p:cNvPr id="3" name="Text 1"/>
          <p:cNvSpPr/>
          <p:nvPr>
            <p:ph type="title"/>
          </p:nvPr>
        </p:nvSpPr>
        <p:spPr>
          <a:xfrm>
            <a:off x="812759" y="1140020"/>
            <a:ext cx="5624777" cy="1955831"/>
          </a:xfrm>
          <a:prstGeom prst="rect">
            <a:avLst/>
          </a:prstGeom>
          <a:noFill/>
          <a:ln/>
        </p:spPr>
        <p:txBody>
          <a:bodyPr wrap="square" lIns="0" tIns="0" rIns="0" bIns="0" rtlCol="0" anchor="t">
            <a:normAutofit/>
          </a:bodyPr>
          <a:lstStyle/>
          <a:p>
            <a:pPr algn="l" indent="0" marL="0">
              <a:lnSpc>
                <a:spcPts val="7600"/>
              </a:lnSpc>
              <a:buNone/>
            </a:pPr>
            <a:r>
              <a:rPr lang="en-US" sz="6000" b="1" i="0" dirty="0">
                <a:solidFill>
                  <a:srgbClr val="EAF3F6"/>
                </a:solidFill>
                <a:latin typeface="DM Sans" pitchFamily="34" charset="0"/>
                <a:ea typeface="DM Sans" pitchFamily="34" charset="-122"/>
                <a:cs typeface="DM Sans" pitchFamily="34" charset="-120"/>
              </a:rPr>
              <a:t>NephroTwin </a:t>
            </a:r>
            <a:r>
              <a:rPr lang="en-US" sz="6000" b="1" i="0" dirty="0">
                <a:solidFill>
                  <a:srgbClr val="2DD4BF"/>
                </a:solidFill>
                <a:latin typeface="DM Sans" pitchFamily="34" charset="0"/>
                <a:ea typeface="DM Sans" pitchFamily="34" charset="-122"/>
                <a:cs typeface="DM Sans" pitchFamily="34" charset="-120"/>
              </a:rPr>
              <a:t>AI</a:t>
            </a:r>
            <a:endParaRPr lang="en-US" sz="7600" dirty="0"/>
          </a:p>
        </p:txBody>
      </p:sp>
      <p:sp>
        <p:nvSpPr>
          <p:cNvPr id="4" name="Text 2"/>
          <p:cNvSpPr/>
          <p:nvPr/>
        </p:nvSpPr>
        <p:spPr>
          <a:xfrm>
            <a:off x="812759" y="3248210"/>
            <a:ext cx="4827323" cy="1015854"/>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C3D0"/>
                </a:solidFill>
                <a:latin typeface="DM Sans" pitchFamily="34" charset="0"/>
                <a:ea typeface="DM Sans" pitchFamily="34" charset="-122"/>
                <a:cs typeface="DM Sans" pitchFamily="34" charset="-120"/>
              </a:rPr>
              <a:t>A personalized dialysis digital twin that predicts intradialytic hypotension and supports safer fluid-removal planning.</a:t>
            </a:r>
            <a:endParaRPr lang="en-US" sz="2000" dirty="0"/>
          </a:p>
        </p:txBody>
      </p:sp>
      <p:sp>
        <p:nvSpPr>
          <p:cNvPr id="5" name="Text 3"/>
          <p:cNvSpPr/>
          <p:nvPr/>
        </p:nvSpPr>
        <p:spPr>
          <a:xfrm>
            <a:off x="812759" y="4416423"/>
            <a:ext cx="4827323" cy="665538"/>
          </a:xfrm>
          <a:prstGeom prst="rect">
            <a:avLst/>
          </a:prstGeom>
          <a:noFill/>
          <a:ln/>
        </p:spPr>
        <p:txBody>
          <a:bodyPr wrap="square" lIns="0" tIns="0" rIns="0" bIns="0" rtlCol="0" anchor="t">
            <a:normAutofit/>
          </a:bodyPr>
          <a:lstStyle/>
          <a:p>
            <a:pPr algn="l" indent="0" marL="0">
              <a:lnSpc>
                <a:spcPts val="2520"/>
              </a:lnSpc>
              <a:buNone/>
            </a:pPr>
            <a:r>
              <a:rPr lang="en-US" sz="1800" b="1" i="1" dirty="0">
                <a:solidFill>
                  <a:srgbClr val="F5B83D"/>
                </a:solidFill>
                <a:latin typeface="DM Sans" pitchFamily="34" charset="0"/>
                <a:ea typeface="DM Sans" pitchFamily="34" charset="-122"/>
                <a:cs typeface="DM Sans" pitchFamily="34" charset="-120"/>
              </a:rPr>
              <a:t>Predict the risk. Understand the patient. Plan dialysis more safely.</a:t>
            </a:r>
            <a:endParaRPr lang="en-US" sz="1800" dirty="0"/>
          </a:p>
        </p:txBody>
      </p:sp>
      <p:sp>
        <p:nvSpPr>
          <p:cNvPr id="6" name="Shape 4"/>
          <p:cNvSpPr/>
          <p:nvPr/>
        </p:nvSpPr>
        <p:spPr>
          <a:xfrm>
            <a:off x="6115400" y="1286368"/>
            <a:ext cx="5257454" cy="3623844"/>
          </a:xfrm>
          <a:prstGeom prst="roundRect">
            <a:avLst>
              <a:gd name="adj" fmla="val 4030"/>
            </a:avLst>
          </a:prstGeom>
          <a:solidFill>
            <a:srgbClr val="12304A"/>
          </a:solidFill>
          <a:ln w="12700">
            <a:solidFill>
              <a:srgbClr val="234E70"/>
            </a:solidFill>
            <a:prstDash val="solid"/>
          </a:ln>
        </p:spPr>
        <p:txBody>
          <a:bodyPr/>
          <a:p/>
        </p:txBody>
      </p:sp>
      <p:sp>
        <p:nvSpPr>
          <p:cNvPr id="7" name="Text 5"/>
          <p:cNvSpPr/>
          <p:nvPr/>
        </p:nvSpPr>
        <p:spPr>
          <a:xfrm>
            <a:off x="6400733" y="1571702"/>
            <a:ext cx="4827389"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EXECUTIVE SUMMARY</a:t>
            </a:r>
            <a:endParaRPr lang="en-US" sz="1300" dirty="0"/>
          </a:p>
        </p:txBody>
      </p:sp>
      <p:sp>
        <p:nvSpPr>
          <p:cNvPr id="8" name="Text 6"/>
          <p:cNvSpPr/>
          <p:nvPr/>
        </p:nvSpPr>
        <p:spPr>
          <a:xfrm>
            <a:off x="6400733" y="1929789"/>
            <a:ext cx="4827389" cy="539668"/>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EAF3F6"/>
                </a:solidFill>
                <a:latin typeface="DM Sans" pitchFamily="34" charset="0"/>
                <a:ea typeface="DM Sans" pitchFamily="34" charset="-122"/>
                <a:cs typeface="DM Sans" pitchFamily="34" charset="-120"/>
              </a:rPr>
              <a:t>Problem :</a:t>
            </a:r>
            <a:r>
              <a:rPr lang="en-US" sz="1500" dirty="0">
                <a:solidFill>
                  <a:srgbClr val="EAF3F6"/>
                </a:solidFill>
                <a:latin typeface="DM Sans" pitchFamily="34" charset="0"/>
                <a:ea typeface="DM Sans" pitchFamily="34" charset="-122"/>
                <a:cs typeface="DM Sans" pitchFamily="34" charset="-120"/>
              </a:rPr>
              <a:t> Hypotension during dialysis is patient-specific, and population risk scores miss it.</a:t>
            </a:r>
            <a:endParaRPr lang="en-US" sz="1500" dirty="0"/>
          </a:p>
        </p:txBody>
      </p:sp>
      <p:sp>
        <p:nvSpPr>
          <p:cNvPr id="9" name="Text 7"/>
          <p:cNvSpPr/>
          <p:nvPr/>
        </p:nvSpPr>
        <p:spPr>
          <a:xfrm>
            <a:off x="6400733" y="2571018"/>
            <a:ext cx="4827389" cy="539668"/>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EAF3F6"/>
                </a:solidFill>
                <a:latin typeface="DM Sans" pitchFamily="34" charset="0"/>
                <a:ea typeface="DM Sans" pitchFamily="34" charset="-122"/>
                <a:cs typeface="DM Sans" pitchFamily="34" charset="-120"/>
              </a:rPr>
              <a:t>Solution :</a:t>
            </a:r>
            <a:r>
              <a:rPr lang="en-US" sz="1500" dirty="0">
                <a:solidFill>
                  <a:srgbClr val="EAF3F6"/>
                </a:solidFill>
                <a:latin typeface="DM Sans" pitchFamily="34" charset="0"/>
                <a:ea typeface="DM Sans" pitchFamily="34" charset="-122"/>
                <a:cs typeface="DM Sans" pitchFamily="34" charset="-120"/>
              </a:rPr>
              <a:t> A persistent virtual patient that scores risk before connection and shows why.</a:t>
            </a:r>
            <a:endParaRPr lang="en-US" sz="1500" dirty="0"/>
          </a:p>
        </p:txBody>
      </p:sp>
      <p:sp>
        <p:nvSpPr>
          <p:cNvPr id="10" name="Text 8"/>
          <p:cNvSpPr/>
          <p:nvPr/>
        </p:nvSpPr>
        <p:spPr>
          <a:xfrm>
            <a:off x="6400733" y="3212247"/>
            <a:ext cx="4827389" cy="796802"/>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EAF3F6"/>
                </a:solidFill>
                <a:latin typeface="DM Sans" pitchFamily="34" charset="0"/>
                <a:ea typeface="DM Sans" pitchFamily="34" charset="-122"/>
                <a:cs typeface="DM Sans" pitchFamily="34" charset="-120"/>
              </a:rPr>
              <a:t>Evidence.</a:t>
            </a:r>
            <a:r>
              <a:rPr lang="en-US" sz="1500" dirty="0">
                <a:solidFill>
                  <a:srgbClr val="EAF3F6"/>
                </a:solidFill>
                <a:latin typeface="DM Sans" pitchFamily="34" charset="0"/>
                <a:ea typeface="DM Sans" pitchFamily="34" charset="-122"/>
                <a:cs typeface="DM Sans" pitchFamily="34" charset="-120"/>
              </a:rPr>
              <a:t> AUC 0.977 on a synthetic cohort. On real HEMOBP data the hybrid matches the standard model at 0.871, and we report that openly.</a:t>
            </a:r>
            <a:endParaRPr lang="en-US" sz="1500" dirty="0"/>
          </a:p>
        </p:txBody>
      </p:sp>
      <p:sp>
        <p:nvSpPr>
          <p:cNvPr id="11" name="Text 9"/>
          <p:cNvSpPr/>
          <p:nvPr/>
        </p:nvSpPr>
        <p:spPr>
          <a:xfrm>
            <a:off x="6400733" y="4110611"/>
            <a:ext cx="4827389" cy="539668"/>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EAF3F6"/>
                </a:solidFill>
                <a:latin typeface="DM Sans" pitchFamily="34" charset="0"/>
                <a:ea typeface="DM Sans" pitchFamily="34" charset="-122"/>
                <a:cs typeface="DM Sans" pitchFamily="34" charset="-120"/>
              </a:rPr>
              <a:t>Path.</a:t>
            </a:r>
            <a:r>
              <a:rPr lang="en-US" sz="1500" dirty="0">
                <a:solidFill>
                  <a:srgbClr val="EAF3F6"/>
                </a:solidFill>
                <a:latin typeface="DM Sans" pitchFamily="34" charset="0"/>
                <a:ea typeface="DM Sans" pitchFamily="34" charset="-122"/>
                <a:cs typeface="DM Sans" pitchFamily="34" charset="-120"/>
              </a:rPr>
              <a:t> Prospective study, then a SaMD pathway, then machine and EHR partnerships.</a:t>
            </a:r>
            <a:endParaRPr lang="en-US" sz="1500" dirty="0"/>
          </a:p>
        </p:txBody>
      </p:sp>
      <p:sp>
        <p:nvSpPr>
          <p:cNvPr id="12" name="Text 10"/>
          <p:cNvSpPr/>
          <p:nvPr/>
        </p:nvSpPr>
        <p:spPr>
          <a:xfrm>
            <a:off x="812759" y="5193792"/>
            <a:ext cx="5120640" cy="77214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F3F6"/>
                </a:solidFill>
                <a:latin typeface="DM Sans" pitchFamily="34" charset="0"/>
                <a:ea typeface="DM Sans" pitchFamily="34" charset="-122"/>
                <a:cs typeface="DM Sans" pitchFamily="34" charset="-120"/>
              </a:rPr>
              <a:t>Team ZWEIKERN</a:t>
            </a:r>
            <a:r>
              <a:rPr lang="en-US" sz="1400" dirty="0">
                <a:solidFill>
                  <a:srgbClr val="EAF3F6"/>
                </a:solidFill>
                <a:latin typeface="DM Sans" pitchFamily="34" charset="0"/>
                <a:ea typeface="DM Sans" pitchFamily="34" charset="-122"/>
                <a:cs typeface="DM Sans" pitchFamily="34" charset="-120"/>
              </a:rPr>
              <a:t> · Shada Ali Kuzhikattil, Rushdha V</a:t>
            </a:r>
            <a:endParaRPr lang="en-US" sz="1400" dirty="0"/>
          </a:p>
          <a:p>
            <a:pPr algn="l" indent="0" marL="0">
              <a:lnSpc>
                <a:spcPts val="1960"/>
              </a:lnSpc>
              <a:buNone/>
            </a:pPr>
            <a:r>
              <a:rPr lang="en-US" sz="1400" dirty="0">
                <a:solidFill>
                  <a:srgbClr val="A9C3D0"/>
                </a:solidFill>
                <a:latin typeface="DM Sans" pitchFamily="34" charset="0"/>
                <a:ea typeface="DM Sans" pitchFamily="34" charset="-122"/>
                <a:cs typeface="DM Sans" pitchFamily="34" charset="-120"/>
              </a:rPr>
              <a:t>Vel Tech Rangarajan Dr. Sagunthala R&amp;D Institute of Science and Technology, Chennai</a:t>
            </a:r>
            <a:endParaRPr lang="en-US" sz="1400" dirty="0"/>
          </a:p>
        </p:txBody>
      </p:sp>
      <p:sp>
        <p:nvSpPr>
          <p:cNvPr id="13" name="Text 11"/>
          <p:cNvSpPr/>
          <p:nvPr/>
        </p:nvSpPr>
        <p:spPr>
          <a:xfrm>
            <a:off x="6117336" y="5074920"/>
            <a:ext cx="5257800" cy="86868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Repo: github.com/Shada0/NephroTwin-AI</a:t>
            </a:r>
            <a:endParaRPr lang="en-US" sz="1200" dirty="0"/>
          </a:p>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Demo video: [INSERT YOUTUBE UNLISTED VIDEO LINK HERE]</a:t>
            </a:r>
            <a:endParaRPr lang="en-US" sz="1200" dirty="0"/>
          </a:p>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Pitch deck: [INSERT GOOGLE DRIVE PITCH DECK LINK HERE]</a:t>
            </a:r>
            <a:endParaRPr lang="en-US" sz="1200" dirty="0"/>
          </a:p>
        </p:txBody>
      </p:sp>
      <p:sp>
        <p:nvSpPr>
          <p:cNvPr id="14" name="Text 12"/>
          <p:cNvSpPr/>
          <p:nvPr/>
        </p:nvSpPr>
        <p:spPr>
          <a:xfrm>
            <a:off x="812759" y="6238259"/>
            <a:ext cx="1088337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Simulated research prototype: synthetic cohort plus open real-data validation (HEMOBP). Not a medical device.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812759" y="812759"/>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66E"/>
                </a:solidFill>
                <a:latin typeface="DM Sans" pitchFamily="34" charset="0"/>
                <a:ea typeface="DM Sans" pitchFamily="34" charset="-122"/>
                <a:cs typeface="DM Sans" pitchFamily="34" charset="-120"/>
              </a:rPr>
              <a:t>🩺 THE CLINICAL PROBLEM</a:t>
            </a:r>
            <a:endParaRPr lang="en-US" sz="1300" dirty="0"/>
          </a:p>
        </p:txBody>
      </p:sp>
      <p:sp>
        <p:nvSpPr>
          <p:cNvPr id="3" name="Text 1"/>
          <p:cNvSpPr/>
          <p:nvPr>
            <p:ph type="title"/>
          </p:nvPr>
        </p:nvSpPr>
        <p:spPr>
          <a:xfrm>
            <a:off x="812759" y="1247074"/>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2E"/>
                </a:solidFill>
                <a:latin typeface="DM Sans" pitchFamily="34" charset="0"/>
                <a:ea typeface="DM Sans" pitchFamily="34" charset="-122"/>
                <a:cs typeface="DM Sans" pitchFamily="34" charset="-120"/>
              </a:rPr>
              <a:t>Hypotension during dialysis is patient-specific</a:t>
            </a:r>
            <a:endParaRPr lang="en-US" sz="3000" dirty="0"/>
          </a:p>
        </p:txBody>
      </p:sp>
      <p:sp>
        <p:nvSpPr>
          <p:cNvPr id="4" name="Shape 2"/>
          <p:cNvSpPr/>
          <p:nvPr/>
        </p:nvSpPr>
        <p:spPr>
          <a:xfrm>
            <a:off x="819109" y="1875709"/>
            <a:ext cx="3373967" cy="2175828"/>
          </a:xfrm>
          <a:prstGeom prst="roundRect">
            <a:avLst>
              <a:gd name="adj" fmla="val 5545"/>
            </a:avLst>
          </a:prstGeom>
          <a:solidFill>
            <a:srgbClr val="FFFFFF"/>
          </a:solidFill>
          <a:ln w="12700">
            <a:solidFill>
              <a:srgbClr val="D3E0E4"/>
            </a:solidFill>
            <a:prstDash val="solid"/>
          </a:ln>
        </p:spPr>
        <p:txBody>
          <a:bodyPr/>
          <a:p/>
        </p:txBody>
      </p:sp>
      <p:pic>
        <p:nvPicPr>
          <p:cNvPr id="5" name="Image 0" descr="Activity">    </p:cNvPr>
          <p:cNvPicPr>
            <a:picLocks noChangeAspect="1"/>
          </p:cNvPicPr>
          <p:nvPr/>
        </p:nvPicPr>
        <p:blipFill>
          <a:blip r:embed="rId1"/>
          <a:srcRect l="0" r="0" t="0" b="0"/>
          <a:stretch/>
        </p:blipFill>
        <p:spPr>
          <a:xfrm>
            <a:off x="1053645" y="2110245"/>
            <a:ext cx="330151" cy="330151"/>
          </a:xfrm>
          <a:prstGeom prst="rect">
            <a:avLst/>
          </a:prstGeom>
        </p:spPr>
      </p:pic>
      <p:sp>
        <p:nvSpPr>
          <p:cNvPr id="6" name="Text 3"/>
          <p:cNvSpPr/>
          <p:nvPr/>
        </p:nvSpPr>
        <p:spPr>
          <a:xfrm>
            <a:off x="1053645" y="2529276"/>
            <a:ext cx="2992041"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2E"/>
                </a:solidFill>
                <a:latin typeface="DM Sans" pitchFamily="34" charset="0"/>
                <a:ea typeface="DM Sans" pitchFamily="34" charset="-122"/>
                <a:cs typeface="DM Sans" pitchFamily="34" charset="-120"/>
              </a:rPr>
              <a:t>Removal outruns refill</a:t>
            </a:r>
            <a:endParaRPr lang="en-US" sz="1800" dirty="0"/>
          </a:p>
        </p:txBody>
      </p:sp>
      <p:sp>
        <p:nvSpPr>
          <p:cNvPr id="7" name="Text 4"/>
          <p:cNvSpPr/>
          <p:nvPr/>
        </p:nvSpPr>
        <p:spPr>
          <a:xfrm>
            <a:off x="1053645" y="2892500"/>
            <a:ext cx="2992041" cy="9499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A68"/>
                </a:solidFill>
                <a:latin typeface="DM Sans" pitchFamily="34" charset="0"/>
                <a:ea typeface="DM Sans" pitchFamily="34" charset="-122"/>
                <a:cs typeface="DM Sans" pitchFamily="34" charset="-120"/>
              </a:rPr>
              <a:t>Dialysis removes fluid gained between sessions. Removing it faster than the body refills it can drop blood pressure mid-treatment.</a:t>
            </a:r>
            <a:endParaRPr lang="en-US" sz="1300" dirty="0"/>
          </a:p>
        </p:txBody>
      </p:sp>
      <p:sp>
        <p:nvSpPr>
          <p:cNvPr id="8" name="Shape 5"/>
          <p:cNvSpPr/>
          <p:nvPr/>
        </p:nvSpPr>
        <p:spPr>
          <a:xfrm>
            <a:off x="4408965" y="1875709"/>
            <a:ext cx="3374031" cy="2175828"/>
          </a:xfrm>
          <a:prstGeom prst="roundRect">
            <a:avLst>
              <a:gd name="adj" fmla="val 5545"/>
            </a:avLst>
          </a:prstGeom>
          <a:solidFill>
            <a:srgbClr val="FFFFFF"/>
          </a:solidFill>
          <a:ln w="12700">
            <a:solidFill>
              <a:srgbClr val="D3E0E4"/>
            </a:solidFill>
            <a:prstDash val="solid"/>
          </a:ln>
        </p:spPr>
        <p:txBody>
          <a:bodyPr/>
          <a:p/>
        </p:txBody>
      </p:sp>
      <p:pic>
        <p:nvPicPr>
          <p:cNvPr id="9" name="Image 1" descr="Users">    </p:cNvPr>
          <p:cNvPicPr>
            <a:picLocks noChangeAspect="1"/>
          </p:cNvPicPr>
          <p:nvPr/>
        </p:nvPicPr>
        <p:blipFill>
          <a:blip r:embed="rId2"/>
          <a:srcRect l="0" r="0" t="0" b="0"/>
          <a:stretch/>
        </p:blipFill>
        <p:spPr>
          <a:xfrm>
            <a:off x="4643502" y="2110245"/>
            <a:ext cx="330151" cy="330151"/>
          </a:xfrm>
          <a:prstGeom prst="rect">
            <a:avLst/>
          </a:prstGeom>
        </p:spPr>
      </p:pic>
      <p:sp>
        <p:nvSpPr>
          <p:cNvPr id="10" name="Text 6"/>
          <p:cNvSpPr/>
          <p:nvPr/>
        </p:nvSpPr>
        <p:spPr>
          <a:xfrm>
            <a:off x="4643502" y="2529276"/>
            <a:ext cx="2992107"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2E"/>
                </a:solidFill>
                <a:latin typeface="DM Sans" pitchFamily="34" charset="0"/>
                <a:ea typeface="DM Sans" pitchFamily="34" charset="-122"/>
                <a:cs typeface="DM Sans" pitchFamily="34" charset="-120"/>
              </a:rPr>
              <a:t>Patients differ</a:t>
            </a:r>
            <a:endParaRPr lang="en-US" sz="1800" dirty="0"/>
          </a:p>
        </p:txBody>
      </p:sp>
      <p:sp>
        <p:nvSpPr>
          <p:cNvPr id="11" name="Text 7"/>
          <p:cNvSpPr/>
          <p:nvPr/>
        </p:nvSpPr>
        <p:spPr>
          <a:xfrm>
            <a:off x="4643502" y="2892500"/>
            <a:ext cx="2992107" cy="71877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A68"/>
                </a:solidFill>
                <a:latin typeface="DM Sans" pitchFamily="34" charset="0"/>
                <a:ea typeface="DM Sans" pitchFamily="34" charset="-122"/>
                <a:cs typeface="DM Sans" pitchFamily="34" charset="-120"/>
              </a:rPr>
              <a:t>Refill rate, vascular response and comorbidity vary sharply from one patient to the next.</a:t>
            </a:r>
            <a:endParaRPr lang="en-US" sz="1300" dirty="0"/>
          </a:p>
        </p:txBody>
      </p:sp>
      <p:sp>
        <p:nvSpPr>
          <p:cNvPr id="12" name="Shape 8"/>
          <p:cNvSpPr/>
          <p:nvPr/>
        </p:nvSpPr>
        <p:spPr>
          <a:xfrm>
            <a:off x="7998886" y="1875709"/>
            <a:ext cx="3373967" cy="2175828"/>
          </a:xfrm>
          <a:prstGeom prst="roundRect">
            <a:avLst>
              <a:gd name="adj" fmla="val 5545"/>
            </a:avLst>
          </a:prstGeom>
          <a:solidFill>
            <a:srgbClr val="FFFFFF"/>
          </a:solidFill>
          <a:ln w="12700">
            <a:solidFill>
              <a:srgbClr val="D3E0E4"/>
            </a:solidFill>
            <a:prstDash val="solid"/>
          </a:ln>
        </p:spPr>
        <p:txBody>
          <a:bodyPr/>
          <a:p/>
        </p:txBody>
      </p:sp>
      <p:pic>
        <p:nvPicPr>
          <p:cNvPr id="13" name="Image 2" descr="Clock">    </p:cNvPr>
          <p:cNvPicPr>
            <a:picLocks noChangeAspect="1"/>
          </p:cNvPicPr>
          <p:nvPr/>
        </p:nvPicPr>
        <p:blipFill>
          <a:blip r:embed="rId3"/>
          <a:srcRect l="0" r="0" t="0" b="0"/>
          <a:stretch/>
        </p:blipFill>
        <p:spPr>
          <a:xfrm>
            <a:off x="8233423" y="2110245"/>
            <a:ext cx="330151" cy="330151"/>
          </a:xfrm>
          <a:prstGeom prst="rect">
            <a:avLst/>
          </a:prstGeom>
        </p:spPr>
      </p:pic>
      <p:sp>
        <p:nvSpPr>
          <p:cNvPr id="14" name="Text 9"/>
          <p:cNvSpPr/>
          <p:nvPr/>
        </p:nvSpPr>
        <p:spPr>
          <a:xfrm>
            <a:off x="8233423" y="2529276"/>
            <a:ext cx="2992041"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2E"/>
                </a:solidFill>
                <a:latin typeface="DM Sans" pitchFamily="34" charset="0"/>
                <a:ea typeface="DM Sans" pitchFamily="34" charset="-122"/>
                <a:cs typeface="DM Sans" pitchFamily="34" charset="-120"/>
              </a:rPr>
              <a:t>Sessions differ</a:t>
            </a:r>
            <a:endParaRPr lang="en-US" sz="1800" dirty="0"/>
          </a:p>
        </p:txBody>
      </p:sp>
      <p:sp>
        <p:nvSpPr>
          <p:cNvPr id="15" name="Text 10"/>
          <p:cNvSpPr/>
          <p:nvPr/>
        </p:nvSpPr>
        <p:spPr>
          <a:xfrm>
            <a:off x="8233423" y="2892500"/>
            <a:ext cx="2992041" cy="71877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A68"/>
                </a:solidFill>
                <a:latin typeface="DM Sans" pitchFamily="34" charset="0"/>
                <a:ea typeface="DM Sans" pitchFamily="34" charset="-122"/>
                <a:cs typeface="DM Sans" pitchFamily="34" charset="-120"/>
              </a:rPr>
              <a:t>Fluid gain, heat and gap length change the risk for the same patient from one session to the next.</a:t>
            </a:r>
            <a:endParaRPr lang="en-US" sz="1300" dirty="0"/>
          </a:p>
        </p:txBody>
      </p:sp>
      <p:sp>
        <p:nvSpPr>
          <p:cNvPr id="16" name="Shape 11"/>
          <p:cNvSpPr/>
          <p:nvPr/>
        </p:nvSpPr>
        <p:spPr>
          <a:xfrm>
            <a:off x="812759" y="4261076"/>
            <a:ext cx="10566444" cy="1450071"/>
          </a:xfrm>
          <a:prstGeom prst="roundRect">
            <a:avLst>
              <a:gd name="adj" fmla="val 8758"/>
            </a:avLst>
          </a:prstGeom>
          <a:solidFill>
            <a:srgbClr val="0B1F2E"/>
          </a:solidFill>
          <a:ln/>
        </p:spPr>
        <p:txBody>
          <a:bodyPr/>
          <a:p/>
        </p:txBody>
      </p:sp>
      <p:sp>
        <p:nvSpPr>
          <p:cNvPr id="17" name="Text 12"/>
          <p:cNvSpPr/>
          <p:nvPr/>
        </p:nvSpPr>
        <p:spPr>
          <a:xfrm>
            <a:off x="1117544" y="4489633"/>
            <a:ext cx="2616200" cy="584172"/>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DD4BF"/>
                </a:solidFill>
                <a:latin typeface="DM Sans" pitchFamily="34" charset="0"/>
                <a:ea typeface="DM Sans" pitchFamily="34" charset="-122"/>
                <a:cs typeface="DM Sans" pitchFamily="34" charset="-120"/>
              </a:rPr>
              <a:t>9.5%</a:t>
            </a:r>
            <a:endParaRPr lang="en-US" sz="4400" dirty="0"/>
          </a:p>
        </p:txBody>
      </p:sp>
      <p:sp>
        <p:nvSpPr>
          <p:cNvPr id="18" name="Text 13"/>
          <p:cNvSpPr/>
          <p:nvPr/>
        </p:nvSpPr>
        <p:spPr>
          <a:xfrm>
            <a:off x="1117544" y="5086486"/>
            <a:ext cx="2616200" cy="42150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C3D0"/>
                </a:solidFill>
                <a:latin typeface="DM Sans" pitchFamily="34" charset="0"/>
                <a:ea typeface="DM Sans" pitchFamily="34" charset="-122"/>
                <a:cs typeface="DM Sans" pitchFamily="34" charset="-120"/>
              </a:rPr>
              <a:t>of 14,638 real HEMOBP sessions had a hypotensive reading</a:t>
            </a:r>
            <a:endParaRPr lang="en-US" sz="1200" dirty="0"/>
          </a:p>
        </p:txBody>
      </p:sp>
      <p:sp>
        <p:nvSpPr>
          <p:cNvPr id="19" name="Text 14"/>
          <p:cNvSpPr/>
          <p:nvPr/>
        </p:nvSpPr>
        <p:spPr>
          <a:xfrm>
            <a:off x="4013126" y="4612741"/>
            <a:ext cx="7273132" cy="77214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3F6"/>
                </a:solidFill>
                <a:latin typeface="DM Sans" pitchFamily="34" charset="0"/>
                <a:ea typeface="DM Sans" pitchFamily="34" charset="-122"/>
                <a:cs typeface="DM Sans" pitchFamily="34" charset="-120"/>
              </a:rPr>
              <a:t>Population scores ignore each patient’s physiology. </a:t>
            </a:r>
            <a:r>
              <a:rPr lang="en-US" sz="1400" b="1" dirty="0">
                <a:solidFill>
                  <a:srgbClr val="EAF3F6"/>
                </a:solidFill>
                <a:latin typeface="DM Sans" pitchFamily="34" charset="0"/>
                <a:ea typeface="DM Sans" pitchFamily="34" charset="-122"/>
                <a:cs typeface="DM Sans" pitchFamily="34" charset="-120"/>
              </a:rPr>
              <a:t>Our target:</a:t>
            </a:r>
            <a:r>
              <a:rPr lang="en-US" sz="1400" dirty="0">
                <a:solidFill>
                  <a:srgbClr val="EAF3F6"/>
                </a:solidFill>
                <a:latin typeface="DM Sans" pitchFamily="34" charset="0"/>
                <a:ea typeface="DM Sans" pitchFamily="34" charset="-122"/>
                <a:cs typeface="DM Sans" pitchFamily="34" charset="-120"/>
              </a:rPr>
              <a:t> the probability of hypotension before the session starts, the reasons behind it, and what-if scenarios for clinicians, never orders.</a:t>
            </a:r>
            <a:endParaRPr lang="en-US" sz="1400" dirty="0"/>
          </a:p>
        </p:txBody>
      </p:sp>
      <p:sp>
        <p:nvSpPr>
          <p:cNvPr id="20" name="Text 15"/>
          <p:cNvSpPr/>
          <p:nvPr/>
        </p:nvSpPr>
        <p:spPr>
          <a:xfrm>
            <a:off x="812759" y="6238259"/>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1" name="Text 16"/>
          <p:cNvSpPr/>
          <p:nvPr/>
        </p:nvSpPr>
        <p:spPr>
          <a:xfrm>
            <a:off x="10058403" y="6238259"/>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5A68"/>
                </a:solidFill>
                <a:latin typeface="DM Sans" pitchFamily="34" charset="0"/>
                <a:ea typeface="DM Sans" pitchFamily="34" charset="-122"/>
                <a:cs typeface="DM Sans" pitchFamily="34"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2E"/>
        </a:solidFill>
      </p:bgPr>
    </p:bg>
    <p:spTree>
      <p:nvGrpSpPr>
        <p:cNvPr id="1" name=""/>
        <p:cNvGrpSpPr/>
        <p:nvPr/>
      </p:nvGrpSpPr>
      <p:grpSpPr>
        <a:xfrm>
          <a:off x="0" y="0"/>
          <a:ext cx="0" cy="0"/>
          <a:chOff x="0" y="0"/>
          <a:chExt cx="0" cy="0"/>
        </a:xfrm>
      </p:grpSpPr>
      <p:sp>
        <p:nvSpPr>
          <p:cNvPr id="2" name="Text 0"/>
          <p:cNvSpPr/>
          <p:nvPr/>
        </p:nvSpPr>
        <p:spPr>
          <a:xfrm>
            <a:off x="812759" y="812760"/>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 THE DIGITAL TWIN SOLUTION</a:t>
            </a:r>
            <a:endParaRPr lang="en-US" sz="1300" dirty="0"/>
          </a:p>
        </p:txBody>
      </p:sp>
      <p:sp>
        <p:nvSpPr>
          <p:cNvPr id="3" name="Text 1"/>
          <p:cNvSpPr/>
          <p:nvPr>
            <p:ph type="title"/>
          </p:nvPr>
        </p:nvSpPr>
        <p:spPr>
          <a:xfrm>
            <a:off x="812759" y="1247074"/>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EAF3F6"/>
                </a:solidFill>
                <a:latin typeface="DM Sans" pitchFamily="34" charset="0"/>
                <a:ea typeface="DM Sans" pitchFamily="34" charset="-122"/>
                <a:cs typeface="DM Sans" pitchFamily="34" charset="-120"/>
              </a:rPr>
              <a:t>A persistent virtual patient that learns</a:t>
            </a:r>
            <a:endParaRPr lang="en-US" sz="3000" dirty="0"/>
          </a:p>
        </p:txBody>
      </p:sp>
      <p:sp>
        <p:nvSpPr>
          <p:cNvPr id="4" name="Shape 2"/>
          <p:cNvSpPr/>
          <p:nvPr/>
        </p:nvSpPr>
        <p:spPr>
          <a:xfrm>
            <a:off x="819109" y="1875709"/>
            <a:ext cx="3035339" cy="2795608"/>
          </a:xfrm>
          <a:prstGeom prst="roundRect">
            <a:avLst>
              <a:gd name="adj" fmla="val 4316"/>
            </a:avLst>
          </a:prstGeom>
          <a:solidFill>
            <a:srgbClr val="12304A"/>
          </a:solidFill>
          <a:ln w="12700">
            <a:solidFill>
              <a:srgbClr val="234E70"/>
            </a:solidFill>
            <a:prstDash val="solid"/>
          </a:ln>
        </p:spPr>
        <p:txBody>
          <a:bodyPr/>
          <a:p/>
        </p:txBody>
      </p:sp>
      <p:sp>
        <p:nvSpPr>
          <p:cNvPr id="5" name="Text 3"/>
          <p:cNvSpPr/>
          <p:nvPr/>
        </p:nvSpPr>
        <p:spPr>
          <a:xfrm>
            <a:off x="1079076" y="2135676"/>
            <a:ext cx="406379" cy="406379"/>
          </a:xfrm>
          <a:custGeom>
            <a:avLst/>
            <a:gdLst/>
            <a:ahLst/>
            <a:cxnLst/>
            <a:rect l="l" t="t" r="r" b="b"/>
            <a:pathLst>
              <a:path w="406379" h="406379">
                <a:moveTo>
                  <a:pt x="203190" y="0"/>
                </a:moveTo>
                <a:lnTo>
                  <a:pt x="203190" y="0"/>
                </a:lnTo>
                <a:arcTo hR="203190" wR="203190" stAng="16200000" swAng="5400000"/>
                <a:lnTo>
                  <a:pt x="406379" y="203190"/>
                </a:lnTo>
                <a:arcTo hR="203190" wR="203190" stAng="0" swAng="5400000"/>
                <a:lnTo>
                  <a:pt x="203190" y="406379"/>
                </a:lnTo>
                <a:arcTo hR="203190" wR="203190" stAng="5400000" swAng="5400000"/>
                <a:lnTo>
                  <a:pt x="0" y="203190"/>
                </a:lnTo>
                <a:arcTo hR="203190" wR="203190" stAng="10800000" swAng="5400000"/>
                <a:close/>
              </a:path>
            </a:pathLst>
          </a:custGeom>
          <a:solidFill>
            <a:srgbClr val="2DD4BF"/>
          </a:solidFill>
          <a:ln/>
        </p:spPr>
        <p:txBody>
          <a:bodyPr wrap="square" lIns="0" tIns="0" rIns="0" bIns="0" rtlCol="0" anchor="t">
            <a:normAutofit/>
          </a:bodyPr>
          <a:lstStyle/>
          <a:p>
            <a:pPr algn="ctr" indent="0" marL="0">
              <a:lnSpc>
                <a:spcPts val="3196"/>
              </a:lnSpc>
              <a:buNone/>
            </a:pPr>
            <a:r>
              <a:rPr lang="en-US" sz="1700" b="1" dirty="0">
                <a:solidFill>
                  <a:srgbClr val="0B1F2E"/>
                </a:solidFill>
                <a:latin typeface="DM Sans" pitchFamily="34" charset="0"/>
                <a:ea typeface="DM Sans" pitchFamily="34" charset="-122"/>
                <a:cs typeface="DM Sans" pitchFamily="34" charset="-120"/>
              </a:rPr>
              <a:t>1</a:t>
            </a:r>
            <a:endParaRPr lang="en-US" sz="1700" dirty="0"/>
          </a:p>
        </p:txBody>
      </p:sp>
      <p:sp>
        <p:nvSpPr>
          <p:cNvPr id="6" name="Text 4"/>
          <p:cNvSpPr/>
          <p:nvPr/>
        </p:nvSpPr>
        <p:spPr>
          <a:xfrm>
            <a:off x="1079076" y="2630936"/>
            <a:ext cx="2590866" cy="330185"/>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3F6"/>
                </a:solidFill>
                <a:latin typeface="DM Sans" pitchFamily="34" charset="0"/>
                <a:ea typeface="DM Sans" pitchFamily="34" charset="-122"/>
                <a:cs typeface="DM Sans" pitchFamily="34" charset="-120"/>
              </a:rPr>
              <a:t>Initialise</a:t>
            </a:r>
            <a:endParaRPr lang="en-US" sz="2000" dirty="0"/>
          </a:p>
        </p:txBody>
      </p:sp>
      <p:sp>
        <p:nvSpPr>
          <p:cNvPr id="7" name="Text 5"/>
          <p:cNvSpPr/>
          <p:nvPr/>
        </p:nvSpPr>
        <p:spPr>
          <a:xfrm>
            <a:off x="1079076" y="3024598"/>
            <a:ext cx="2590866" cy="141215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5"/>
                </a:solidFill>
                <a:latin typeface="DM Sans" pitchFamily="34" charset="0"/>
                <a:ea typeface="DM Sans" pitchFamily="34" charset="-122"/>
                <a:cs typeface="DM Sans" pitchFamily="34" charset="-120"/>
              </a:rPr>
              <a:t>Estimate refill rate k, BP sensitivity S and fluid-gain rate g from past sessions, with uncertainty. MAP least squares plus a population prior from training patients only.</a:t>
            </a:r>
            <a:endParaRPr lang="en-US" sz="1300" dirty="0"/>
          </a:p>
        </p:txBody>
      </p:sp>
      <p:pic>
        <p:nvPicPr>
          <p:cNvPr id="8" name="Image 0" descr="arrow-right">    </p:cNvPr>
          <p:cNvPicPr>
            <a:picLocks noChangeAspect="1"/>
          </p:cNvPicPr>
          <p:nvPr/>
        </p:nvPicPr>
        <p:blipFill>
          <a:blip r:embed="rId1"/>
          <a:srcRect l="0" r="0" t="0" b="0"/>
          <a:stretch/>
        </p:blipFill>
        <p:spPr>
          <a:xfrm>
            <a:off x="4013190" y="3146487"/>
            <a:ext cx="406379" cy="253987"/>
          </a:xfrm>
          <a:prstGeom prst="rect">
            <a:avLst/>
          </a:prstGeom>
        </p:spPr>
      </p:pic>
      <p:sp>
        <p:nvSpPr>
          <p:cNvPr id="9" name="Shape 6"/>
          <p:cNvSpPr/>
          <p:nvPr/>
        </p:nvSpPr>
        <p:spPr>
          <a:xfrm>
            <a:off x="4578312" y="1991240"/>
            <a:ext cx="3035339" cy="2564483"/>
          </a:xfrm>
          <a:prstGeom prst="roundRect">
            <a:avLst>
              <a:gd name="adj" fmla="val 4705"/>
            </a:avLst>
          </a:prstGeom>
          <a:solidFill>
            <a:srgbClr val="12304A"/>
          </a:solidFill>
          <a:ln w="12700">
            <a:solidFill>
              <a:srgbClr val="234E70"/>
            </a:solidFill>
            <a:prstDash val="solid"/>
          </a:ln>
        </p:spPr>
        <p:txBody>
          <a:bodyPr/>
          <a:p/>
        </p:txBody>
      </p:sp>
      <p:sp>
        <p:nvSpPr>
          <p:cNvPr id="10" name="Text 7"/>
          <p:cNvSpPr/>
          <p:nvPr/>
        </p:nvSpPr>
        <p:spPr>
          <a:xfrm>
            <a:off x="4838279" y="2251207"/>
            <a:ext cx="406379" cy="406379"/>
          </a:xfrm>
          <a:custGeom>
            <a:avLst/>
            <a:gdLst/>
            <a:ahLst/>
            <a:cxnLst/>
            <a:rect l="l" t="t" r="r" b="b"/>
            <a:pathLst>
              <a:path w="406379" h="406379">
                <a:moveTo>
                  <a:pt x="203190" y="0"/>
                </a:moveTo>
                <a:lnTo>
                  <a:pt x="203190" y="0"/>
                </a:lnTo>
                <a:arcTo hR="203190" wR="203190" stAng="16200000" swAng="5400000"/>
                <a:lnTo>
                  <a:pt x="406379" y="203190"/>
                </a:lnTo>
                <a:arcTo hR="203190" wR="203190" stAng="0" swAng="5400000"/>
                <a:lnTo>
                  <a:pt x="203190" y="406379"/>
                </a:lnTo>
                <a:arcTo hR="203190" wR="203190" stAng="5400000" swAng="5400000"/>
                <a:lnTo>
                  <a:pt x="0" y="203190"/>
                </a:lnTo>
                <a:arcTo hR="203190" wR="203190" stAng="10800000" swAng="5400000"/>
                <a:close/>
              </a:path>
            </a:pathLst>
          </a:custGeom>
          <a:solidFill>
            <a:srgbClr val="2DD4BF"/>
          </a:solidFill>
          <a:ln/>
        </p:spPr>
        <p:txBody>
          <a:bodyPr wrap="square" lIns="0" tIns="0" rIns="0" bIns="0" rtlCol="0" anchor="t">
            <a:normAutofit/>
          </a:bodyPr>
          <a:lstStyle/>
          <a:p>
            <a:pPr algn="ctr" indent="0" marL="0">
              <a:lnSpc>
                <a:spcPts val="3196"/>
              </a:lnSpc>
              <a:buNone/>
            </a:pPr>
            <a:r>
              <a:rPr lang="en-US" sz="1700" b="1" dirty="0">
                <a:solidFill>
                  <a:srgbClr val="0B1F2E"/>
                </a:solidFill>
                <a:latin typeface="DM Sans" pitchFamily="34" charset="0"/>
                <a:ea typeface="DM Sans" pitchFamily="34" charset="-122"/>
                <a:cs typeface="DM Sans" pitchFamily="34" charset="-120"/>
              </a:rPr>
              <a:t>2</a:t>
            </a:r>
            <a:endParaRPr lang="en-US" sz="1700" dirty="0"/>
          </a:p>
        </p:txBody>
      </p:sp>
      <p:sp>
        <p:nvSpPr>
          <p:cNvPr id="11" name="Text 8"/>
          <p:cNvSpPr/>
          <p:nvPr/>
        </p:nvSpPr>
        <p:spPr>
          <a:xfrm>
            <a:off x="4838279" y="2746465"/>
            <a:ext cx="2590866" cy="330185"/>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3F6"/>
                </a:solidFill>
                <a:latin typeface="DM Sans" pitchFamily="34" charset="0"/>
                <a:ea typeface="DM Sans" pitchFamily="34" charset="-122"/>
                <a:cs typeface="DM Sans" pitchFamily="34" charset="-120"/>
              </a:rPr>
              <a:t>Update</a:t>
            </a:r>
            <a:endParaRPr lang="en-US" sz="2000" dirty="0"/>
          </a:p>
        </p:txBody>
      </p:sp>
      <p:sp>
        <p:nvSpPr>
          <p:cNvPr id="12" name="Text 9"/>
          <p:cNvSpPr/>
          <p:nvPr/>
        </p:nvSpPr>
        <p:spPr>
          <a:xfrm>
            <a:off x="4838279" y="3140129"/>
            <a:ext cx="2590866" cy="1181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5"/>
                </a:solidFill>
                <a:latin typeface="DM Sans" pitchFamily="34" charset="0"/>
                <a:ea typeface="DM Sans" pitchFamily="34" charset="-122"/>
                <a:cs typeface="DM Sans" pitchFamily="34" charset="-120"/>
              </a:rPr>
              <a:t>A scalar Kalman filter fuses home and clinic weights into a fluid-excess state. Each new session re-fits the parameters with a warm start.</a:t>
            </a:r>
            <a:endParaRPr lang="en-US" sz="1300" dirty="0"/>
          </a:p>
        </p:txBody>
      </p:sp>
      <p:pic>
        <p:nvPicPr>
          <p:cNvPr id="13" name="Image 1" descr="arrow-right">    </p:cNvPr>
          <p:cNvPicPr>
            <a:picLocks noChangeAspect="1"/>
          </p:cNvPicPr>
          <p:nvPr/>
        </p:nvPicPr>
        <p:blipFill>
          <a:blip r:embed="rId2"/>
          <a:srcRect l="0" r="0" t="0" b="0"/>
          <a:stretch/>
        </p:blipFill>
        <p:spPr>
          <a:xfrm>
            <a:off x="7772393" y="3146487"/>
            <a:ext cx="406379" cy="253987"/>
          </a:xfrm>
          <a:prstGeom prst="rect">
            <a:avLst/>
          </a:prstGeom>
        </p:spPr>
      </p:pic>
      <p:sp>
        <p:nvSpPr>
          <p:cNvPr id="14" name="Shape 10"/>
          <p:cNvSpPr/>
          <p:nvPr/>
        </p:nvSpPr>
        <p:spPr>
          <a:xfrm>
            <a:off x="8337514" y="1991240"/>
            <a:ext cx="3035339" cy="2564483"/>
          </a:xfrm>
          <a:prstGeom prst="roundRect">
            <a:avLst>
              <a:gd name="adj" fmla="val 4705"/>
            </a:avLst>
          </a:prstGeom>
          <a:solidFill>
            <a:srgbClr val="12304A"/>
          </a:solidFill>
          <a:ln w="12700">
            <a:solidFill>
              <a:srgbClr val="234E70"/>
            </a:solidFill>
            <a:prstDash val="solid"/>
          </a:ln>
        </p:spPr>
        <p:txBody>
          <a:bodyPr/>
          <a:p/>
        </p:txBody>
      </p:sp>
      <p:sp>
        <p:nvSpPr>
          <p:cNvPr id="15" name="Text 11"/>
          <p:cNvSpPr/>
          <p:nvPr/>
        </p:nvSpPr>
        <p:spPr>
          <a:xfrm>
            <a:off x="8597481" y="2251207"/>
            <a:ext cx="406379" cy="406379"/>
          </a:xfrm>
          <a:custGeom>
            <a:avLst/>
            <a:gdLst/>
            <a:ahLst/>
            <a:cxnLst/>
            <a:rect l="l" t="t" r="r" b="b"/>
            <a:pathLst>
              <a:path w="406379" h="406379">
                <a:moveTo>
                  <a:pt x="203190" y="0"/>
                </a:moveTo>
                <a:lnTo>
                  <a:pt x="203190" y="0"/>
                </a:lnTo>
                <a:arcTo hR="203190" wR="203190" stAng="16200000" swAng="5400000"/>
                <a:lnTo>
                  <a:pt x="406379" y="203190"/>
                </a:lnTo>
                <a:arcTo hR="203190" wR="203190" stAng="0" swAng="5400000"/>
                <a:lnTo>
                  <a:pt x="203190" y="406379"/>
                </a:lnTo>
                <a:arcTo hR="203190" wR="203190" stAng="5400000" swAng="5400000"/>
                <a:lnTo>
                  <a:pt x="0" y="203190"/>
                </a:lnTo>
                <a:arcTo hR="203190" wR="203190" stAng="10800000" swAng="5400000"/>
                <a:close/>
              </a:path>
            </a:pathLst>
          </a:custGeom>
          <a:solidFill>
            <a:srgbClr val="2DD4BF"/>
          </a:solidFill>
          <a:ln/>
        </p:spPr>
        <p:txBody>
          <a:bodyPr wrap="square" lIns="0" tIns="0" rIns="0" bIns="0" rtlCol="0" anchor="t">
            <a:normAutofit/>
          </a:bodyPr>
          <a:lstStyle/>
          <a:p>
            <a:pPr algn="ctr" indent="0" marL="0">
              <a:lnSpc>
                <a:spcPts val="3196"/>
              </a:lnSpc>
              <a:buNone/>
            </a:pPr>
            <a:r>
              <a:rPr lang="en-US" sz="1700" b="1" dirty="0">
                <a:solidFill>
                  <a:srgbClr val="0B1F2E"/>
                </a:solidFill>
                <a:latin typeface="DM Sans" pitchFamily="34" charset="0"/>
                <a:ea typeface="DM Sans" pitchFamily="34" charset="-122"/>
                <a:cs typeface="DM Sans" pitchFamily="34" charset="-120"/>
              </a:rPr>
              <a:t>3</a:t>
            </a:r>
            <a:endParaRPr lang="en-US" sz="1700" dirty="0"/>
          </a:p>
        </p:txBody>
      </p:sp>
      <p:sp>
        <p:nvSpPr>
          <p:cNvPr id="16" name="Text 12"/>
          <p:cNvSpPr/>
          <p:nvPr/>
        </p:nvSpPr>
        <p:spPr>
          <a:xfrm>
            <a:off x="8597481" y="2746465"/>
            <a:ext cx="2590866" cy="330185"/>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3F6"/>
                </a:solidFill>
                <a:latin typeface="DM Sans" pitchFamily="34" charset="0"/>
                <a:ea typeface="DM Sans" pitchFamily="34" charset="-122"/>
                <a:cs typeface="DM Sans" pitchFamily="34" charset="-120"/>
              </a:rPr>
              <a:t>Simulate</a:t>
            </a:r>
            <a:endParaRPr lang="en-US" sz="2000" dirty="0"/>
          </a:p>
        </p:txBody>
      </p:sp>
      <p:sp>
        <p:nvSpPr>
          <p:cNvPr id="17" name="Text 13"/>
          <p:cNvSpPr/>
          <p:nvPr/>
        </p:nvSpPr>
        <p:spPr>
          <a:xfrm>
            <a:off x="8597481" y="3140129"/>
            <a:ext cx="2590866" cy="1181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5"/>
                </a:solidFill>
                <a:latin typeface="DM Sans" pitchFamily="34" charset="0"/>
                <a:ea typeface="DM Sans" pitchFamily="34" charset="-122"/>
                <a:cs typeface="DM Sans" pitchFamily="34" charset="-120"/>
              </a:rPr>
              <a:t>Two-compartment ODE (SciPy), BP response and AR(1) noise. Monte Carlo over uncertainty gives P(SBP &lt; 90 mmHg) for the plan and each what-if.</a:t>
            </a:r>
            <a:endParaRPr lang="en-US" sz="1300" dirty="0"/>
          </a:p>
        </p:txBody>
      </p:sp>
      <p:sp>
        <p:nvSpPr>
          <p:cNvPr id="18" name="Text 14"/>
          <p:cNvSpPr/>
          <p:nvPr/>
        </p:nvSpPr>
        <p:spPr>
          <a:xfrm>
            <a:off x="812759" y="4880857"/>
            <a:ext cx="5207026" cy="741604"/>
          </a:xfrm>
          <a:prstGeom prst="roundRect">
            <a:avLst>
              <a:gd name="adj" fmla="val 13700"/>
            </a:avLst>
          </a:prstGeom>
          <a:solidFill>
            <a:srgbClr val="FDF0D5"/>
          </a:solidFill>
          <a:ln/>
        </p:spPr>
        <p:txBody>
          <a:bodyPr wrap="square" lIns="160742" tIns="109942" rIns="15962" bIns="84542" rtlCol="0" anchor="t">
            <a:normAutofit/>
          </a:bodyPr>
          <a:lstStyle/>
          <a:p>
            <a:pPr algn="l" indent="0" marL="0">
              <a:lnSpc>
                <a:spcPts val="1820"/>
              </a:lnSpc>
              <a:buNone/>
            </a:pPr>
            <a:r>
              <a:rPr lang="en-US" sz="1300" b="1" dirty="0">
                <a:solidFill>
                  <a:srgbClr val="0B1F2E"/>
                </a:solidFill>
                <a:latin typeface="DM Sans" pitchFamily="34" charset="0"/>
                <a:ea typeface="DM Sans" pitchFamily="34" charset="-122"/>
                <a:cs typeface="DM Sans" pitchFamily="34" charset="-120"/>
              </a:rPr>
              <a:t>Outcome label (demo definition):</a:t>
            </a:r>
            <a:r>
              <a:rPr lang="en-US" sz="1300" dirty="0">
                <a:solidFill>
                  <a:srgbClr val="0B1F2E"/>
                </a:solidFill>
                <a:latin typeface="DM Sans" pitchFamily="34" charset="0"/>
                <a:ea typeface="DM Sans" pitchFamily="34" charset="-122"/>
                <a:cs typeface="DM Sans" pitchFamily="34" charset="-120"/>
              </a:rPr>
              <a:t> any monitored SBP below 90 mmHg.</a:t>
            </a:r>
            <a:endParaRPr lang="en-US" sz="1300" dirty="0"/>
          </a:p>
        </p:txBody>
      </p:sp>
      <p:sp>
        <p:nvSpPr>
          <p:cNvPr id="19" name="Text 15"/>
          <p:cNvSpPr/>
          <p:nvPr/>
        </p:nvSpPr>
        <p:spPr>
          <a:xfrm>
            <a:off x="6172177" y="4880857"/>
            <a:ext cx="5207026" cy="741604"/>
          </a:xfrm>
          <a:prstGeom prst="roundRect">
            <a:avLst>
              <a:gd name="adj" fmla="val 13700"/>
            </a:avLst>
          </a:prstGeom>
          <a:solidFill>
            <a:srgbClr val="E3F5F1"/>
          </a:solidFill>
          <a:ln/>
        </p:spPr>
        <p:txBody>
          <a:bodyPr wrap="square" lIns="160742" tIns="109942" rIns="15962" bIns="84542" rtlCol="0" anchor="t">
            <a:normAutofit/>
          </a:bodyPr>
          <a:lstStyle/>
          <a:p>
            <a:pPr algn="l" indent="0" marL="0">
              <a:lnSpc>
                <a:spcPts val="1820"/>
              </a:lnSpc>
              <a:buNone/>
            </a:pPr>
            <a:r>
              <a:rPr lang="en-US" sz="1300" b="1" dirty="0">
                <a:solidFill>
                  <a:srgbClr val="0B1F2E"/>
                </a:solidFill>
                <a:latin typeface="DM Sans" pitchFamily="34" charset="0"/>
                <a:ea typeface="DM Sans" pitchFamily="34" charset="-122"/>
                <a:cs typeface="DM Sans" pitchFamily="34" charset="-120"/>
              </a:rPr>
              <a:t>Prediction timestamp:</a:t>
            </a:r>
            <a:r>
              <a:rPr lang="en-US" sz="1300" dirty="0">
                <a:solidFill>
                  <a:srgbClr val="0B1F2E"/>
                </a:solidFill>
                <a:latin typeface="DM Sans" pitchFamily="34" charset="0"/>
                <a:ea typeface="DM Sans" pitchFamily="34" charset="-122"/>
                <a:cs typeface="DM Sans" pitchFamily="34" charset="-120"/>
              </a:rPr>
              <a:t> scheduled connection time. No later data are used.</a:t>
            </a:r>
            <a:endParaRPr lang="en-US" sz="1300" dirty="0"/>
          </a:p>
        </p:txBody>
      </p:sp>
      <p:sp>
        <p:nvSpPr>
          <p:cNvPr id="20" name="Text 16"/>
          <p:cNvSpPr/>
          <p:nvPr/>
        </p:nvSpPr>
        <p:spPr>
          <a:xfrm>
            <a:off x="812759" y="6238260"/>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1" name="Text 17"/>
          <p:cNvSpPr/>
          <p:nvPr/>
        </p:nvSpPr>
        <p:spPr>
          <a:xfrm>
            <a:off x="10058403" y="6238260"/>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812759" y="812758"/>
            <a:ext cx="10883438" cy="247342"/>
          </a:xfrm>
          <a:prstGeom prst="rect">
            <a:avLst/>
          </a:prstGeom>
          <a:noFill/>
          <a:ln/>
        </p:spPr>
        <p:txBody>
          <a:bodyPr wrap="square" lIns="0" tIns="0" rIns="0" bIns="0" rtlCol="0" anchor="t">
            <a:normAutofit/>
          </a:bodyPr>
          <a:lstStyle/>
          <a:p>
            <a:pPr algn="l" indent="0" marL="0">
              <a:lnSpc>
                <a:spcPts val="1774"/>
              </a:lnSpc>
              <a:buNone/>
            </a:pPr>
            <a:r>
              <a:rPr lang="en-US" sz="1268" b="1" spc="100" kern="0" dirty="0">
                <a:solidFill>
                  <a:srgbClr val="0F766E"/>
                </a:solidFill>
                <a:latin typeface="DM Sans" pitchFamily="34" charset="0"/>
                <a:ea typeface="DM Sans" pitchFamily="34" charset="-122"/>
                <a:cs typeface="DM Sans" pitchFamily="34" charset="-120"/>
              </a:rPr>
              <a:t>📊 DUAL DATA STREAMS</a:t>
            </a:r>
            <a:endParaRPr lang="en-US" sz="1268" dirty="0"/>
          </a:p>
        </p:txBody>
      </p:sp>
      <p:sp>
        <p:nvSpPr>
          <p:cNvPr id="3" name="Text 1"/>
          <p:cNvSpPr/>
          <p:nvPr>
            <p:ph type="title"/>
          </p:nvPr>
        </p:nvSpPr>
        <p:spPr>
          <a:xfrm>
            <a:off x="812759" y="1237890"/>
            <a:ext cx="10883438" cy="427862"/>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0B1F2E"/>
                </a:solidFill>
                <a:latin typeface="DM Sans" pitchFamily="34" charset="0"/>
                <a:ea typeface="DM Sans" pitchFamily="34" charset="-122"/>
                <a:cs typeface="DM Sans" pitchFamily="34" charset="-120"/>
              </a:rPr>
              <a:t>Two streams, controlled for leakage</a:t>
            </a:r>
            <a:endParaRPr lang="en-US" sz="2878" dirty="0"/>
          </a:p>
        </p:txBody>
      </p:sp>
      <p:sp>
        <p:nvSpPr>
          <p:cNvPr id="4" name="Shape 2"/>
          <p:cNvSpPr/>
          <p:nvPr/>
        </p:nvSpPr>
        <p:spPr>
          <a:xfrm>
            <a:off x="819109" y="1849892"/>
            <a:ext cx="5168895" cy="1766944"/>
          </a:xfrm>
          <a:prstGeom prst="roundRect">
            <a:avLst>
              <a:gd name="adj" fmla="val 6828"/>
            </a:avLst>
          </a:prstGeom>
          <a:solidFill>
            <a:srgbClr val="E3F5F1"/>
          </a:solidFill>
          <a:ln w="12700">
            <a:solidFill>
              <a:srgbClr val="8FD3C6"/>
            </a:solidFill>
            <a:prstDash val="solid"/>
          </a:ln>
        </p:spPr>
        <p:txBody>
          <a:bodyPr/>
          <a:p/>
        </p:txBody>
      </p:sp>
      <p:sp>
        <p:nvSpPr>
          <p:cNvPr id="5" name="Text 3"/>
          <p:cNvSpPr/>
          <p:nvPr/>
        </p:nvSpPr>
        <p:spPr>
          <a:xfrm>
            <a:off x="1079076" y="2071714"/>
            <a:ext cx="4788429" cy="298717"/>
          </a:xfrm>
          <a:prstGeom prst="rect">
            <a:avLst/>
          </a:prstGeom>
          <a:noFill/>
          <a:ln/>
        </p:spPr>
        <p:txBody>
          <a:bodyPr wrap="square" lIns="0" tIns="0" rIns="0" bIns="0" rtlCol="0" anchor="t">
            <a:normAutofit/>
          </a:bodyPr>
          <a:lstStyle/>
          <a:p>
            <a:pPr algn="l" indent="0" marL="0">
              <a:lnSpc>
                <a:spcPts val="2173"/>
              </a:lnSpc>
              <a:buNone/>
            </a:pPr>
            <a:r>
              <a:rPr lang="en-US" sz="1811" b="1" dirty="0">
                <a:solidFill>
                  <a:srgbClr val="0B1F2E"/>
                </a:solidFill>
                <a:latin typeface="DM Sans" pitchFamily="34" charset="0"/>
                <a:ea typeface="DM Sans" pitchFamily="34" charset="-122"/>
                <a:cs typeface="DM Sans" pitchFamily="34" charset="-120"/>
              </a:rPr>
              <a:t>Stream A · History (EHR)</a:t>
            </a:r>
            <a:endParaRPr lang="en-US" sz="1811" dirty="0"/>
          </a:p>
        </p:txBody>
      </p:sp>
      <p:sp>
        <p:nvSpPr>
          <p:cNvPr id="6" name="Text 4"/>
          <p:cNvSpPr/>
          <p:nvPr/>
        </p:nvSpPr>
        <p:spPr>
          <a:xfrm>
            <a:off x="1170608" y="2421195"/>
            <a:ext cx="4689277" cy="999221"/>
          </a:xfrm>
          <a:prstGeom prst="rect">
            <a:avLst/>
          </a:prstGeom>
          <a:noFill/>
          <a:ln/>
        </p:spPr>
        <p:txBody>
          <a:bodyPr wrap="square" lIns="0" tIns="0" rIns="0" bIns="0" rtlCol="0" anchor="t">
            <a:normAutofit/>
          </a:bodyPr>
          <a:lstStyle/>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Age, sex, diabetes, hypertension, CVD</a:t>
            </a:r>
            <a:endParaRPr lang="en-US" sz="1321" dirty="0"/>
          </a:p>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Baseline BP, dry weight, labs, medications</a:t>
            </a:r>
            <a:endParaRPr lang="en-US" sz="1321" dirty="0"/>
          </a:p>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6 months of sessions: UF, duration, IDWG</a:t>
            </a:r>
            <a:endParaRPr lang="en-US" sz="1321" dirty="0"/>
          </a:p>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Timed BP and HR, prior hypotension events</a:t>
            </a:r>
            <a:endParaRPr lang="en-US" sz="1321" dirty="0"/>
          </a:p>
        </p:txBody>
      </p:sp>
      <p:sp>
        <p:nvSpPr>
          <p:cNvPr id="7" name="Shape 5"/>
          <p:cNvSpPr/>
          <p:nvPr/>
        </p:nvSpPr>
        <p:spPr>
          <a:xfrm>
            <a:off x="6203894" y="1849892"/>
            <a:ext cx="5168959" cy="1766944"/>
          </a:xfrm>
          <a:prstGeom prst="roundRect">
            <a:avLst>
              <a:gd name="adj" fmla="val 6828"/>
            </a:avLst>
          </a:prstGeom>
          <a:solidFill>
            <a:srgbClr val="FDF0D5"/>
          </a:solidFill>
          <a:ln w="12700">
            <a:solidFill>
              <a:srgbClr val="E9C77A"/>
            </a:solidFill>
            <a:prstDash val="solid"/>
          </a:ln>
        </p:spPr>
        <p:txBody>
          <a:bodyPr/>
          <a:p/>
        </p:txBody>
      </p:sp>
      <p:sp>
        <p:nvSpPr>
          <p:cNvPr id="8" name="Text 6"/>
          <p:cNvSpPr/>
          <p:nvPr/>
        </p:nvSpPr>
        <p:spPr>
          <a:xfrm>
            <a:off x="6463861" y="2071714"/>
            <a:ext cx="4788495" cy="298717"/>
          </a:xfrm>
          <a:prstGeom prst="rect">
            <a:avLst/>
          </a:prstGeom>
          <a:noFill/>
          <a:ln/>
        </p:spPr>
        <p:txBody>
          <a:bodyPr wrap="square" lIns="0" tIns="0" rIns="0" bIns="0" rtlCol="0" anchor="t">
            <a:normAutofit/>
          </a:bodyPr>
          <a:lstStyle/>
          <a:p>
            <a:pPr algn="l" indent="0" marL="0">
              <a:lnSpc>
                <a:spcPts val="2173"/>
              </a:lnSpc>
              <a:buNone/>
            </a:pPr>
            <a:r>
              <a:rPr lang="en-US" sz="1811" b="1" dirty="0">
                <a:solidFill>
                  <a:srgbClr val="0B1F2E"/>
                </a:solidFill>
                <a:latin typeface="DM Sans" pitchFamily="34" charset="0"/>
                <a:ea typeface="DM Sans" pitchFamily="34" charset="-122"/>
                <a:cs typeface="DM Sans" pitchFamily="34" charset="-120"/>
              </a:rPr>
              <a:t>Stream B · Dynamic signals</a:t>
            </a:r>
            <a:endParaRPr lang="en-US" sz="1811" dirty="0"/>
          </a:p>
        </p:txBody>
      </p:sp>
      <p:sp>
        <p:nvSpPr>
          <p:cNvPr id="9" name="Text 7"/>
          <p:cNvSpPr/>
          <p:nvPr/>
        </p:nvSpPr>
        <p:spPr>
          <a:xfrm>
            <a:off x="6555393" y="2421195"/>
            <a:ext cx="4689343" cy="999221"/>
          </a:xfrm>
          <a:prstGeom prst="rect">
            <a:avLst/>
          </a:prstGeom>
          <a:noFill/>
          <a:ln/>
        </p:spPr>
        <p:txBody>
          <a:bodyPr wrap="square" lIns="0" tIns="0" rIns="0" bIns="0" rtlCol="0" anchor="t">
            <a:normAutofit/>
          </a:bodyPr>
          <a:lstStyle/>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Daily home weight and BP cuff readings</a:t>
            </a:r>
            <a:endParaRPr lang="en-US" sz="1321" dirty="0"/>
          </a:p>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Wearable HR, HRV, activity, sleep (gaps shown)</a:t>
            </a:r>
            <a:endParaRPr lang="en-US" sz="1321" dirty="0"/>
          </a:p>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Temperature and heat-wave flag</a:t>
            </a:r>
            <a:endParaRPr lang="en-US" sz="1321" dirty="0"/>
          </a:p>
          <a:p>
            <a:pPr algn="l" marL="162468" indent="-162468">
              <a:lnSpc>
                <a:spcPts val="1916"/>
              </a:lnSpc>
              <a:buSzPct val="100000"/>
              <a:buChar char="•"/>
            </a:pPr>
            <a:r>
              <a:rPr lang="en-US" sz="1321" dirty="0">
                <a:solidFill>
                  <a:srgbClr val="0B1F2E"/>
                </a:solidFill>
                <a:latin typeface="DM Sans" pitchFamily="34" charset="0"/>
                <a:ea typeface="DM Sans" pitchFamily="34" charset="-122"/>
                <a:cs typeface="DM Sans" pitchFamily="34" charset="-120"/>
              </a:rPr>
              <a:t>Pre-dialysis vitals</a:t>
            </a:r>
            <a:endParaRPr lang="en-US" sz="1321" dirty="0"/>
          </a:p>
        </p:txBody>
      </p:sp>
      <p:sp>
        <p:nvSpPr>
          <p:cNvPr id="10" name="Shape 8"/>
          <p:cNvSpPr/>
          <p:nvPr/>
        </p:nvSpPr>
        <p:spPr>
          <a:xfrm>
            <a:off x="812759" y="3826376"/>
            <a:ext cx="3420510" cy="1607601"/>
          </a:xfrm>
          <a:prstGeom prst="roundRect">
            <a:avLst>
              <a:gd name="adj" fmla="val 7900"/>
            </a:avLst>
          </a:prstGeom>
          <a:solidFill>
            <a:srgbClr val="0B1F2E"/>
          </a:solidFill>
          <a:ln/>
        </p:spPr>
        <p:txBody>
          <a:bodyPr/>
          <a:p/>
        </p:txBody>
      </p:sp>
      <p:pic>
        <p:nvPicPr>
          <p:cNvPr id="11" name="Image 0" descr="Lock">    </p:cNvPr>
          <p:cNvPicPr>
            <a:picLocks noChangeAspect="1"/>
          </p:cNvPicPr>
          <p:nvPr/>
        </p:nvPicPr>
        <p:blipFill>
          <a:blip r:embed="rId1"/>
          <a:srcRect l="-551" r="-551" t="0" b="0"/>
          <a:stretch/>
        </p:blipFill>
        <p:spPr>
          <a:xfrm>
            <a:off x="1028600" y="4016851"/>
            <a:ext cx="279354" cy="263748"/>
          </a:xfrm>
          <a:prstGeom prst="rect">
            <a:avLst/>
          </a:prstGeom>
        </p:spPr>
      </p:pic>
      <p:sp>
        <p:nvSpPr>
          <p:cNvPr id="12" name="Text 9"/>
          <p:cNvSpPr/>
          <p:nvPr/>
        </p:nvSpPr>
        <p:spPr>
          <a:xfrm>
            <a:off x="1028600" y="4331396"/>
            <a:ext cx="3078493" cy="255562"/>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EAF3F6"/>
                </a:solidFill>
                <a:latin typeface="DM Sans" pitchFamily="34" charset="0"/>
                <a:ea typeface="DM Sans" pitchFamily="34" charset="-122"/>
                <a:cs typeface="DM Sans" pitchFamily="34" charset="-120"/>
              </a:rPr>
              <a:t>Prediction timestamp</a:t>
            </a:r>
            <a:endParaRPr lang="en-US" sz="1520" dirty="0"/>
          </a:p>
        </p:txBody>
      </p:sp>
      <p:sp>
        <p:nvSpPr>
          <p:cNvPr id="13" name="Text 10"/>
          <p:cNvSpPr/>
          <p:nvPr/>
        </p:nvSpPr>
        <p:spPr>
          <a:xfrm>
            <a:off x="1028600" y="4612356"/>
            <a:ext cx="3078493" cy="656547"/>
          </a:xfrm>
          <a:prstGeom prst="rect">
            <a:avLst/>
          </a:prstGeom>
          <a:noFill/>
          <a:ln/>
        </p:spPr>
        <p:txBody>
          <a:bodyPr wrap="square" lIns="0" tIns="0" rIns="0" bIns="0" rtlCol="0" anchor="t">
            <a:normAutofit/>
          </a:bodyPr>
          <a:lstStyle/>
          <a:p>
            <a:pPr algn="l" indent="0" marL="0">
              <a:lnSpc>
                <a:spcPts val="1673"/>
              </a:lnSpc>
              <a:buNone/>
            </a:pPr>
            <a:r>
              <a:rPr lang="en-US" sz="1239" dirty="0">
                <a:solidFill>
                  <a:srgbClr val="C9DCE5"/>
                </a:solidFill>
                <a:latin typeface="DM Sans" pitchFamily="34" charset="0"/>
                <a:ea typeface="DM Sans" pitchFamily="34" charset="-122"/>
                <a:cs typeface="DM Sans" pitchFamily="34" charset="-120"/>
              </a:rPr>
              <a:t>Only data stamped before the scheduled connection time feed any model.</a:t>
            </a:r>
            <a:endParaRPr lang="en-US" sz="1239" dirty="0"/>
          </a:p>
        </p:txBody>
      </p:sp>
      <p:sp>
        <p:nvSpPr>
          <p:cNvPr id="14" name="Shape 11"/>
          <p:cNvSpPr/>
          <p:nvPr/>
        </p:nvSpPr>
        <p:spPr>
          <a:xfrm>
            <a:off x="4385662" y="3826376"/>
            <a:ext cx="3420575" cy="1607601"/>
          </a:xfrm>
          <a:prstGeom prst="roundRect">
            <a:avLst>
              <a:gd name="adj" fmla="val 7900"/>
            </a:avLst>
          </a:prstGeom>
          <a:solidFill>
            <a:srgbClr val="0B1F2E"/>
          </a:solidFill>
          <a:ln/>
        </p:spPr>
        <p:txBody>
          <a:bodyPr/>
          <a:p/>
        </p:txBody>
      </p:sp>
      <p:pic>
        <p:nvPicPr>
          <p:cNvPr id="15" name="Image 1" descr="Database">    </p:cNvPr>
          <p:cNvPicPr>
            <a:picLocks noChangeAspect="1"/>
          </p:cNvPicPr>
          <p:nvPr/>
        </p:nvPicPr>
        <p:blipFill>
          <a:blip r:embed="rId2"/>
          <a:srcRect l="0" r="0" t="0" b="0"/>
          <a:stretch/>
        </p:blipFill>
        <p:spPr>
          <a:xfrm>
            <a:off x="4601502" y="4016851"/>
            <a:ext cx="279354" cy="279354"/>
          </a:xfrm>
          <a:prstGeom prst="rect">
            <a:avLst/>
          </a:prstGeom>
        </p:spPr>
      </p:pic>
      <p:sp>
        <p:nvSpPr>
          <p:cNvPr id="16" name="Text 12"/>
          <p:cNvSpPr/>
          <p:nvPr/>
        </p:nvSpPr>
        <p:spPr>
          <a:xfrm>
            <a:off x="4601502" y="4347001"/>
            <a:ext cx="3078560"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3F6"/>
                </a:solidFill>
                <a:latin typeface="DM Sans" pitchFamily="34" charset="0"/>
                <a:ea typeface="DM Sans" pitchFamily="34" charset="-122"/>
                <a:cs typeface="DM Sans" pitchFamily="34" charset="-120"/>
              </a:rPr>
              <a:t>Past sessions only</a:t>
            </a:r>
            <a:endParaRPr lang="en-US" sz="1600" dirty="0"/>
          </a:p>
        </p:txBody>
      </p:sp>
      <p:sp>
        <p:nvSpPr>
          <p:cNvPr id="17" name="Text 13"/>
          <p:cNvSpPr/>
          <p:nvPr/>
        </p:nvSpPr>
        <p:spPr>
          <a:xfrm>
            <a:off x="4601502" y="4641576"/>
            <a:ext cx="3078560" cy="47108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CE5"/>
                </a:solidFill>
                <a:latin typeface="DM Sans" pitchFamily="34" charset="0"/>
                <a:ea typeface="DM Sans" pitchFamily="34" charset="-122"/>
                <a:cs typeface="DM Sans" pitchFamily="34" charset="-120"/>
              </a:rPr>
              <a:t>Twin parameters for session n use sessions before n, never later ones.</a:t>
            </a:r>
            <a:endParaRPr lang="en-US" sz="1300" dirty="0"/>
          </a:p>
        </p:txBody>
      </p:sp>
      <p:sp>
        <p:nvSpPr>
          <p:cNvPr id="18" name="Shape 14"/>
          <p:cNvSpPr/>
          <p:nvPr/>
        </p:nvSpPr>
        <p:spPr>
          <a:xfrm>
            <a:off x="7958628" y="3826376"/>
            <a:ext cx="3420575" cy="1607601"/>
          </a:xfrm>
          <a:prstGeom prst="roundRect">
            <a:avLst>
              <a:gd name="adj" fmla="val 7900"/>
            </a:avLst>
          </a:prstGeom>
          <a:solidFill>
            <a:srgbClr val="0B1F2E"/>
          </a:solidFill>
          <a:ln/>
        </p:spPr>
        <p:txBody>
          <a:bodyPr/>
          <a:p/>
        </p:txBody>
      </p:sp>
      <p:pic>
        <p:nvPicPr>
          <p:cNvPr id="19" name="Image 2" descr="Verified">    </p:cNvPr>
          <p:cNvPicPr>
            <a:picLocks noChangeAspect="1"/>
          </p:cNvPicPr>
          <p:nvPr/>
        </p:nvPicPr>
        <p:blipFill>
          <a:blip r:embed="rId3"/>
          <a:srcRect l="-551" r="-551" t="0" b="0"/>
          <a:stretch/>
        </p:blipFill>
        <p:spPr>
          <a:xfrm>
            <a:off x="8174469" y="4016851"/>
            <a:ext cx="279354" cy="263748"/>
          </a:xfrm>
          <a:prstGeom prst="rect">
            <a:avLst/>
          </a:prstGeom>
        </p:spPr>
      </p:pic>
      <p:sp>
        <p:nvSpPr>
          <p:cNvPr id="20" name="Text 15"/>
          <p:cNvSpPr/>
          <p:nvPr/>
        </p:nvSpPr>
        <p:spPr>
          <a:xfrm>
            <a:off x="8174469" y="4331396"/>
            <a:ext cx="3078560" cy="255562"/>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EAF3F6"/>
                </a:solidFill>
                <a:latin typeface="DM Sans" pitchFamily="34" charset="0"/>
                <a:ea typeface="DM Sans" pitchFamily="34" charset="-122"/>
                <a:cs typeface="DM Sans" pitchFamily="34" charset="-120"/>
              </a:rPr>
              <a:t>Tested, not assumed</a:t>
            </a:r>
            <a:endParaRPr lang="en-US" sz="1520" dirty="0"/>
          </a:p>
        </p:txBody>
      </p:sp>
      <p:sp>
        <p:nvSpPr>
          <p:cNvPr id="21" name="Text 16"/>
          <p:cNvSpPr/>
          <p:nvPr/>
        </p:nvSpPr>
        <p:spPr>
          <a:xfrm>
            <a:off x="8174469" y="4612356"/>
            <a:ext cx="3078560" cy="656547"/>
          </a:xfrm>
          <a:prstGeom prst="rect">
            <a:avLst/>
          </a:prstGeom>
          <a:noFill/>
          <a:ln/>
        </p:spPr>
        <p:txBody>
          <a:bodyPr wrap="square" lIns="0" tIns="0" rIns="0" bIns="0" rtlCol="0" anchor="t">
            <a:normAutofit/>
          </a:bodyPr>
          <a:lstStyle/>
          <a:p>
            <a:pPr algn="l" indent="0" marL="0">
              <a:lnSpc>
                <a:spcPts val="1656"/>
              </a:lnSpc>
              <a:buNone/>
            </a:pPr>
            <a:r>
              <a:rPr lang="en-US" sz="1227" dirty="0">
                <a:solidFill>
                  <a:srgbClr val="C9DCE5"/>
                </a:solidFill>
                <a:latin typeface="DM Sans" pitchFamily="34" charset="0"/>
                <a:ea typeface="DM Sans" pitchFamily="34" charset="-122"/>
                <a:cs typeface="DM Sans" pitchFamily="34" charset="-120"/>
              </a:rPr>
              <a:t>Patient-grouped and temporal hold-outs; tests assert outcomes never enter features.</a:t>
            </a:r>
            <a:endParaRPr lang="en-US" sz="1227" dirty="0"/>
          </a:p>
        </p:txBody>
      </p:sp>
      <p:sp>
        <p:nvSpPr>
          <p:cNvPr id="22" name="Text 17"/>
          <p:cNvSpPr/>
          <p:nvPr/>
        </p:nvSpPr>
        <p:spPr>
          <a:xfrm>
            <a:off x="812759" y="5637168"/>
            <a:ext cx="10883438" cy="230259"/>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35A68"/>
                </a:solidFill>
                <a:latin typeface="DM Sans" pitchFamily="34" charset="0"/>
                <a:ea typeface="DM Sans" pitchFamily="34" charset="-122"/>
                <a:cs typeface="DM Sans" pitchFamily="34" charset="-120"/>
              </a:rPr>
              <a:t>Real HEMOBP data has no wearables, weather or labs. Those streams stay synthetic and are labelled as such.</a:t>
            </a:r>
            <a:endParaRPr lang="en-US" sz="1159" dirty="0"/>
          </a:p>
        </p:txBody>
      </p:sp>
      <p:sp>
        <p:nvSpPr>
          <p:cNvPr id="23" name="Text 18"/>
          <p:cNvSpPr/>
          <p:nvPr/>
        </p:nvSpPr>
        <p:spPr>
          <a:xfrm>
            <a:off x="812759" y="6238260"/>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4" name="Text 19"/>
          <p:cNvSpPr/>
          <p:nvPr/>
        </p:nvSpPr>
        <p:spPr>
          <a:xfrm>
            <a:off x="10058403" y="6238260"/>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5A68"/>
                </a:solidFill>
                <a:latin typeface="DM Sans" pitchFamily="34" charset="0"/>
                <a:ea typeface="DM Sans" pitchFamily="34" charset="-122"/>
                <a:cs typeface="DM Sans" pitchFamily="34"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2E"/>
        </a:solidFill>
      </p:bgPr>
    </p:bg>
    <p:spTree>
      <p:nvGrpSpPr>
        <p:cNvPr id="1" name=""/>
        <p:cNvGrpSpPr/>
        <p:nvPr/>
      </p:nvGrpSpPr>
      <p:grpSpPr>
        <a:xfrm>
          <a:off x="0" y="0"/>
          <a:ext cx="0" cy="0"/>
          <a:chOff x="0" y="0"/>
          <a:chExt cx="0" cy="0"/>
        </a:xfrm>
      </p:grpSpPr>
      <p:sp>
        <p:nvSpPr>
          <p:cNvPr id="2" name="Text 0"/>
          <p:cNvSpPr/>
          <p:nvPr/>
        </p:nvSpPr>
        <p:spPr>
          <a:xfrm>
            <a:off x="812759" y="812760"/>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 SYSTEM ARCHITECTURE</a:t>
            </a:r>
            <a:endParaRPr lang="en-US" sz="1300" dirty="0"/>
          </a:p>
        </p:txBody>
      </p:sp>
      <p:sp>
        <p:nvSpPr>
          <p:cNvPr id="3" name="Text 1"/>
          <p:cNvSpPr/>
          <p:nvPr>
            <p:ph type="title"/>
          </p:nvPr>
        </p:nvSpPr>
        <p:spPr>
          <a:xfrm>
            <a:off x="812759" y="1247074"/>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EAF3F6"/>
                </a:solidFill>
                <a:latin typeface="DM Sans" pitchFamily="34" charset="0"/>
                <a:ea typeface="DM Sans" pitchFamily="34" charset="-122"/>
                <a:cs typeface="DM Sans" pitchFamily="34" charset="-120"/>
              </a:rPr>
              <a:t>From two data streams to a pre-session risk</a:t>
            </a:r>
            <a:endParaRPr lang="en-US" sz="3000" dirty="0"/>
          </a:p>
        </p:txBody>
      </p:sp>
      <p:sp>
        <p:nvSpPr>
          <p:cNvPr id="4" name="Shape 2"/>
          <p:cNvSpPr/>
          <p:nvPr/>
        </p:nvSpPr>
        <p:spPr>
          <a:xfrm>
            <a:off x="812759" y="1869359"/>
            <a:ext cx="2540000" cy="1728782"/>
          </a:xfrm>
          <a:prstGeom prst="roundRect">
            <a:avLst>
              <a:gd name="adj" fmla="val 7346"/>
            </a:avLst>
          </a:prstGeom>
          <a:solidFill>
            <a:srgbClr val="E3F5F1"/>
          </a:solidFill>
          <a:ln/>
        </p:spPr>
        <p:txBody>
          <a:bodyPr/>
          <a:p/>
        </p:txBody>
      </p:sp>
      <p:sp>
        <p:nvSpPr>
          <p:cNvPr id="5" name="Text 3"/>
          <p:cNvSpPr/>
          <p:nvPr/>
        </p:nvSpPr>
        <p:spPr>
          <a:xfrm>
            <a:off x="1003233" y="2047118"/>
            <a:ext cx="2223823"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2E"/>
                </a:solidFill>
                <a:latin typeface="DM Sans" pitchFamily="34" charset="0"/>
                <a:ea typeface="DM Sans" pitchFamily="34" charset="-122"/>
                <a:cs typeface="DM Sans" pitchFamily="34" charset="-120"/>
              </a:rPr>
              <a:t>Stream A</a:t>
            </a:r>
            <a:endParaRPr lang="en-US" sz="1600" dirty="0"/>
          </a:p>
        </p:txBody>
      </p:sp>
      <p:sp>
        <p:nvSpPr>
          <p:cNvPr id="6" name="Text 4"/>
          <p:cNvSpPr/>
          <p:nvPr/>
        </p:nvSpPr>
        <p:spPr>
          <a:xfrm>
            <a:off x="1003233" y="2341693"/>
            <a:ext cx="2223823" cy="91676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1F2E"/>
                </a:solidFill>
                <a:latin typeface="DM Sans" pitchFamily="34" charset="0"/>
                <a:ea typeface="DM Sans" pitchFamily="34" charset="-122"/>
                <a:cs typeface="DM Sans" pitchFamily="34" charset="-120"/>
              </a:rPr>
              <a:t>Historical EHR. Feature extraction uses sessions before the prediction time only.</a:t>
            </a:r>
            <a:endParaRPr lang="en-US" sz="1300" dirty="0"/>
          </a:p>
        </p:txBody>
      </p:sp>
      <p:sp>
        <p:nvSpPr>
          <p:cNvPr id="7" name="Shape 5"/>
          <p:cNvSpPr/>
          <p:nvPr/>
        </p:nvSpPr>
        <p:spPr>
          <a:xfrm>
            <a:off x="812759" y="3725103"/>
            <a:ext cx="2540000" cy="1728782"/>
          </a:xfrm>
          <a:prstGeom prst="roundRect">
            <a:avLst>
              <a:gd name="adj" fmla="val 7346"/>
            </a:avLst>
          </a:prstGeom>
          <a:solidFill>
            <a:srgbClr val="FDF0D5"/>
          </a:solidFill>
          <a:ln/>
        </p:spPr>
        <p:txBody>
          <a:bodyPr/>
          <a:p/>
        </p:txBody>
      </p:sp>
      <p:sp>
        <p:nvSpPr>
          <p:cNvPr id="8" name="Text 6"/>
          <p:cNvSpPr/>
          <p:nvPr/>
        </p:nvSpPr>
        <p:spPr>
          <a:xfrm>
            <a:off x="1003233" y="3902863"/>
            <a:ext cx="2223823"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2E"/>
                </a:solidFill>
                <a:latin typeface="DM Sans" pitchFamily="34" charset="0"/>
                <a:ea typeface="DM Sans" pitchFamily="34" charset="-122"/>
                <a:cs typeface="DM Sans" pitchFamily="34" charset="-120"/>
              </a:rPr>
              <a:t>Stream B</a:t>
            </a:r>
            <a:endParaRPr lang="en-US" sz="1600" dirty="0"/>
          </a:p>
        </p:txBody>
      </p:sp>
      <p:sp>
        <p:nvSpPr>
          <p:cNvPr id="9" name="Text 7"/>
          <p:cNvSpPr/>
          <p:nvPr/>
        </p:nvSpPr>
        <p:spPr>
          <a:xfrm>
            <a:off x="1003233" y="4197437"/>
            <a:ext cx="2223823" cy="91676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1F2E"/>
                </a:solidFill>
                <a:latin typeface="DM Sans" pitchFamily="34" charset="0"/>
                <a:ea typeface="DM Sans" pitchFamily="34" charset="-122"/>
                <a:cs typeface="DM Sans" pitchFamily="34" charset="-120"/>
              </a:rPr>
              <a:t>Sensors and weather. Preprocessing adds missingness flags and 3-day windows.</a:t>
            </a:r>
            <a:endParaRPr lang="en-US" sz="1300" dirty="0"/>
          </a:p>
        </p:txBody>
      </p:sp>
      <p:pic>
        <p:nvPicPr>
          <p:cNvPr id="10" name="Image 0" descr="arrow-right">    </p:cNvPr>
          <p:cNvPicPr>
            <a:picLocks noChangeAspect="1"/>
          </p:cNvPicPr>
          <p:nvPr/>
        </p:nvPicPr>
        <p:blipFill>
          <a:blip r:embed="rId1"/>
          <a:srcRect l="-7" r="-7" t="0" b="0"/>
          <a:stretch/>
        </p:blipFill>
        <p:spPr>
          <a:xfrm>
            <a:off x="3479721" y="3547343"/>
            <a:ext cx="355582" cy="228556"/>
          </a:xfrm>
          <a:prstGeom prst="rect">
            <a:avLst/>
          </a:prstGeom>
        </p:spPr>
      </p:pic>
      <p:sp>
        <p:nvSpPr>
          <p:cNvPr id="11" name="Shape 8"/>
          <p:cNvSpPr/>
          <p:nvPr/>
        </p:nvSpPr>
        <p:spPr>
          <a:xfrm>
            <a:off x="3968614" y="1875709"/>
            <a:ext cx="3746760" cy="2846341"/>
          </a:xfrm>
          <a:prstGeom prst="roundRect">
            <a:avLst>
              <a:gd name="adj" fmla="val 4239"/>
            </a:avLst>
          </a:prstGeom>
          <a:solidFill>
            <a:srgbClr val="12304A"/>
          </a:solidFill>
          <a:ln w="12700">
            <a:solidFill>
              <a:srgbClr val="2DD4BF"/>
            </a:solidFill>
            <a:prstDash val="solid"/>
          </a:ln>
        </p:spPr>
        <p:txBody>
          <a:bodyPr/>
          <a:p/>
        </p:txBody>
      </p:sp>
      <p:sp>
        <p:nvSpPr>
          <p:cNvPr id="12" name="Text 9"/>
          <p:cNvSpPr/>
          <p:nvPr/>
        </p:nvSpPr>
        <p:spPr>
          <a:xfrm>
            <a:off x="4203150" y="2084880"/>
            <a:ext cx="3376017"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DM Sans" pitchFamily="34" charset="0"/>
                <a:ea typeface="DM Sans" pitchFamily="34" charset="-122"/>
                <a:cs typeface="DM Sans" pitchFamily="34" charset="-120"/>
              </a:rPr>
              <a:t>Physiology engine</a:t>
            </a:r>
            <a:endParaRPr lang="en-US" sz="1800" dirty="0"/>
          </a:p>
        </p:txBody>
      </p:sp>
      <p:sp>
        <p:nvSpPr>
          <p:cNvPr id="13" name="Text 10"/>
          <p:cNvSpPr/>
          <p:nvPr/>
        </p:nvSpPr>
        <p:spPr>
          <a:xfrm>
            <a:off x="4203150" y="2435389"/>
            <a:ext cx="3376017" cy="71877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State.</a:t>
            </a:r>
            <a:r>
              <a:rPr lang="en-US" sz="1300" dirty="0">
                <a:solidFill>
                  <a:srgbClr val="EAF3F6"/>
                </a:solidFill>
                <a:latin typeface="DM Sans" pitchFamily="34" charset="0"/>
                <a:ea typeface="DM Sans" pitchFamily="34" charset="-122"/>
                <a:cs typeface="DM Sans" pitchFamily="34" charset="-120"/>
              </a:rPr>
              <a:t> MAP least squares (k, S, g) with shrinkage, plus a Kalman filter for fluid excess.</a:t>
            </a:r>
            <a:endParaRPr lang="en-US" sz="1300" dirty="0"/>
          </a:p>
        </p:txBody>
      </p:sp>
      <p:sp>
        <p:nvSpPr>
          <p:cNvPr id="14" name="Text 11"/>
          <p:cNvSpPr/>
          <p:nvPr/>
        </p:nvSpPr>
        <p:spPr>
          <a:xfrm>
            <a:off x="4203150" y="3204927"/>
            <a:ext cx="3376017" cy="25652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Fluid.</a:t>
            </a:r>
            <a:r>
              <a:rPr lang="en-US" sz="1300" dirty="0">
                <a:solidFill>
                  <a:srgbClr val="EAF3F6"/>
                </a:solidFill>
                <a:latin typeface="DM Sans" pitchFamily="34" charset="0"/>
                <a:ea typeface="DM Sans" pitchFamily="34" charset="-122"/>
                <a:cs typeface="DM Sans" pitchFamily="34" charset="-120"/>
              </a:rPr>
              <a:t> Two-compartment ODE (SciPy).</a:t>
            </a:r>
            <a:endParaRPr lang="en-US" sz="1300" dirty="0"/>
          </a:p>
        </p:txBody>
      </p:sp>
      <p:sp>
        <p:nvSpPr>
          <p:cNvPr id="15" name="Text 12"/>
          <p:cNvSpPr/>
          <p:nvPr/>
        </p:nvSpPr>
        <p:spPr>
          <a:xfrm>
            <a:off x="4203150" y="3512217"/>
            <a:ext cx="3376017" cy="48765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BP.</a:t>
            </a:r>
            <a:r>
              <a:rPr lang="en-US" sz="1300" dirty="0">
                <a:solidFill>
                  <a:srgbClr val="EAF3F6"/>
                </a:solidFill>
                <a:latin typeface="DM Sans" pitchFamily="34" charset="0"/>
                <a:ea typeface="DM Sans" pitchFamily="34" charset="-122"/>
                <a:cs typeface="DM Sans" pitchFamily="34" charset="-120"/>
              </a:rPr>
              <a:t> Blood-volume response with AR(1) noise.</a:t>
            </a:r>
            <a:endParaRPr lang="en-US" sz="1300" dirty="0"/>
          </a:p>
        </p:txBody>
      </p:sp>
      <p:sp>
        <p:nvSpPr>
          <p:cNvPr id="16" name="Text 13"/>
          <p:cNvSpPr/>
          <p:nvPr/>
        </p:nvSpPr>
        <p:spPr>
          <a:xfrm>
            <a:off x="4203150" y="4050630"/>
            <a:ext cx="3376017" cy="48765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Risk.</a:t>
            </a:r>
            <a:r>
              <a:rPr lang="en-US" sz="1300" dirty="0">
                <a:solidFill>
                  <a:srgbClr val="EAF3F6"/>
                </a:solidFill>
                <a:latin typeface="DM Sans" pitchFamily="34" charset="0"/>
                <a:ea typeface="DM Sans" pitchFamily="34" charset="-122"/>
                <a:cs typeface="DM Sans" pitchFamily="34" charset="-120"/>
              </a:rPr>
              <a:t> Monte Carlo over parameter and state uncertainty, then Platt calibration.</a:t>
            </a:r>
            <a:endParaRPr lang="en-US" sz="1300" dirty="0"/>
          </a:p>
        </p:txBody>
      </p:sp>
      <p:sp>
        <p:nvSpPr>
          <p:cNvPr id="17" name="Text 14"/>
          <p:cNvSpPr/>
          <p:nvPr/>
        </p:nvSpPr>
        <p:spPr>
          <a:xfrm>
            <a:off x="3968614" y="4861713"/>
            <a:ext cx="3746760" cy="585823"/>
          </a:xfrm>
          <a:prstGeom prst="roundRect">
            <a:avLst>
              <a:gd name="adj" fmla="val 14091"/>
            </a:avLst>
          </a:prstGeom>
          <a:noFill/>
          <a:ln w="12700">
            <a:solidFill>
              <a:srgbClr val="F5B83D"/>
            </a:solidFill>
            <a:prstDash val="dash"/>
          </a:ln>
        </p:spPr>
        <p:txBody>
          <a:bodyPr wrap="square" lIns="134202" tIns="70702" rIns="31302" bIns="45302" rtlCol="0" anchor="t">
            <a:normAutofit/>
          </a:bodyPr>
          <a:lstStyle/>
          <a:p>
            <a:pPr algn="l" indent="0" marL="0">
              <a:lnSpc>
                <a:spcPts val="1560"/>
              </a:lnSpc>
              <a:buNone/>
            </a:pPr>
            <a:r>
              <a:rPr lang="en-US" sz="1200" b="1" dirty="0">
                <a:solidFill>
                  <a:srgbClr val="F5B83D"/>
                </a:solidFill>
                <a:latin typeface="DM Sans" pitchFamily="34" charset="0"/>
                <a:ea typeface="DM Sans" pitchFamily="34" charset="-122"/>
                <a:cs typeface="DM Sans" pitchFamily="34" charset="-120"/>
              </a:rPr>
              <a:t>Prediction timestamp = scheduled connection time</a:t>
            </a:r>
            <a:endParaRPr lang="en-US" sz="1200" dirty="0"/>
          </a:p>
        </p:txBody>
      </p:sp>
      <p:pic>
        <p:nvPicPr>
          <p:cNvPr id="18" name="Image 1" descr="arrow-right">    </p:cNvPr>
          <p:cNvPicPr>
            <a:picLocks noChangeAspect="1"/>
          </p:cNvPicPr>
          <p:nvPr/>
        </p:nvPicPr>
        <p:blipFill>
          <a:blip r:embed="rId2"/>
          <a:srcRect l="-7" r="-7" t="0" b="0"/>
          <a:stretch/>
        </p:blipFill>
        <p:spPr>
          <a:xfrm>
            <a:off x="7848685" y="3547343"/>
            <a:ext cx="355582" cy="228556"/>
          </a:xfrm>
          <a:prstGeom prst="rect">
            <a:avLst/>
          </a:prstGeom>
        </p:spPr>
      </p:pic>
      <p:sp>
        <p:nvSpPr>
          <p:cNvPr id="19" name="Shape 15"/>
          <p:cNvSpPr/>
          <p:nvPr/>
        </p:nvSpPr>
        <p:spPr>
          <a:xfrm>
            <a:off x="8337579" y="1875709"/>
            <a:ext cx="3035274" cy="1586552"/>
          </a:xfrm>
          <a:prstGeom prst="roundRect">
            <a:avLst>
              <a:gd name="adj" fmla="val 7605"/>
            </a:avLst>
          </a:prstGeom>
          <a:solidFill>
            <a:srgbClr val="12304A"/>
          </a:solidFill>
          <a:ln w="12700">
            <a:solidFill>
              <a:srgbClr val="234E70"/>
            </a:solidFill>
            <a:prstDash val="solid"/>
          </a:ln>
        </p:spPr>
        <p:txBody>
          <a:bodyPr/>
          <a:p/>
        </p:txBody>
      </p:sp>
      <p:sp>
        <p:nvSpPr>
          <p:cNvPr id="20" name="Text 16"/>
          <p:cNvSpPr/>
          <p:nvPr/>
        </p:nvSpPr>
        <p:spPr>
          <a:xfrm>
            <a:off x="8546749" y="2059449"/>
            <a:ext cx="2695443"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3F6"/>
                </a:solidFill>
                <a:latin typeface="DM Sans" pitchFamily="34" charset="0"/>
                <a:ea typeface="DM Sans" pitchFamily="34" charset="-122"/>
                <a:cs typeface="DM Sans" pitchFamily="34" charset="-120"/>
              </a:rPr>
              <a:t>Models compared</a:t>
            </a:r>
            <a:endParaRPr lang="en-US" sz="1600" dirty="0"/>
          </a:p>
        </p:txBody>
      </p:sp>
      <p:sp>
        <p:nvSpPr>
          <p:cNvPr id="21" name="Text 17"/>
          <p:cNvSpPr/>
          <p:nvPr/>
        </p:nvSpPr>
        <p:spPr>
          <a:xfrm>
            <a:off x="8546749" y="2354021"/>
            <a:ext cx="2695443" cy="9499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Population baseline (LR, RF)</a:t>
            </a:r>
            <a:endParaRPr lang="en-US" sz="1300" dirty="0"/>
          </a:p>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Personalized digital twin</a:t>
            </a:r>
            <a:endParaRPr lang="en-US" sz="1300" dirty="0"/>
          </a:p>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Hybrid: standard + twin</a:t>
            </a:r>
            <a:endParaRPr lang="en-US" sz="1300" dirty="0"/>
          </a:p>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Ablation: population params</a:t>
            </a:r>
            <a:endParaRPr lang="en-US" sz="1300" dirty="0"/>
          </a:p>
        </p:txBody>
      </p:sp>
      <p:sp>
        <p:nvSpPr>
          <p:cNvPr id="22" name="Shape 18"/>
          <p:cNvSpPr/>
          <p:nvPr/>
        </p:nvSpPr>
        <p:spPr>
          <a:xfrm>
            <a:off x="8331229" y="3595573"/>
            <a:ext cx="3047974" cy="1805717"/>
          </a:xfrm>
          <a:prstGeom prst="roundRect">
            <a:avLst>
              <a:gd name="adj" fmla="val 7033"/>
            </a:avLst>
          </a:prstGeom>
          <a:solidFill>
            <a:srgbClr val="E3F5F1"/>
          </a:solidFill>
          <a:ln/>
        </p:spPr>
        <p:txBody>
          <a:bodyPr/>
          <a:p/>
        </p:txBody>
      </p:sp>
      <p:sp>
        <p:nvSpPr>
          <p:cNvPr id="23" name="Text 19"/>
          <p:cNvSpPr/>
          <p:nvPr/>
        </p:nvSpPr>
        <p:spPr>
          <a:xfrm>
            <a:off x="8534419" y="3773332"/>
            <a:ext cx="2720843"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2E"/>
                </a:solidFill>
                <a:latin typeface="DM Sans" pitchFamily="34" charset="0"/>
                <a:ea typeface="DM Sans" pitchFamily="34" charset="-122"/>
                <a:cs typeface="DM Sans" pitchFamily="34" charset="-120"/>
              </a:rPr>
              <a:t>Clinician outputs</a:t>
            </a:r>
            <a:endParaRPr lang="en-US" sz="1600" dirty="0"/>
          </a:p>
        </p:txBody>
      </p:sp>
      <p:sp>
        <p:nvSpPr>
          <p:cNvPr id="24" name="Text 20"/>
          <p:cNvSpPr/>
          <p:nvPr/>
        </p:nvSpPr>
        <p:spPr>
          <a:xfrm>
            <a:off x="8534419" y="4067907"/>
            <a:ext cx="2720843" cy="1181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2E"/>
                </a:solidFill>
                <a:latin typeface="DM Sans" pitchFamily="34" charset="0"/>
                <a:ea typeface="DM Sans" pitchFamily="34" charset="-122"/>
                <a:cs typeface="DM Sans" pitchFamily="34" charset="-120"/>
              </a:rPr>
              <a:t>Risk with uncertainty and Green/Amber/Red demo thresholds</a:t>
            </a:r>
            <a:endParaRPr lang="en-US" sz="1300" dirty="0"/>
          </a:p>
          <a:p>
            <a:pPr algn="l" indent="0" marL="0">
              <a:lnSpc>
                <a:spcPts val="1820"/>
              </a:lnSpc>
              <a:buNone/>
            </a:pPr>
            <a:r>
              <a:rPr lang="en-US" sz="1300" dirty="0">
                <a:solidFill>
                  <a:srgbClr val="0B1F2E"/>
                </a:solidFill>
                <a:latin typeface="DM Sans" pitchFamily="34" charset="0"/>
                <a:ea typeface="DM Sans" pitchFamily="34" charset="-122"/>
                <a:cs typeface="DM Sans" pitchFamily="34" charset="-120"/>
              </a:rPr>
              <a:t>What-if simulation</a:t>
            </a:r>
            <a:endParaRPr lang="en-US" sz="1300" dirty="0"/>
          </a:p>
          <a:p>
            <a:pPr algn="l" indent="0" marL="0">
              <a:lnSpc>
                <a:spcPts val="1820"/>
              </a:lnSpc>
              <a:buNone/>
            </a:pPr>
            <a:r>
              <a:rPr lang="en-US" sz="1300" dirty="0">
                <a:solidFill>
                  <a:srgbClr val="0B1F2E"/>
                </a:solidFill>
                <a:latin typeface="DM Sans" pitchFamily="34" charset="0"/>
                <a:ea typeface="DM Sans" pitchFamily="34" charset="-122"/>
                <a:cs typeface="DM Sans" pitchFamily="34" charset="-120"/>
              </a:rPr>
              <a:t>Streamlit dashboard</a:t>
            </a:r>
            <a:endParaRPr lang="en-US" sz="1300" dirty="0"/>
          </a:p>
        </p:txBody>
      </p:sp>
      <p:sp>
        <p:nvSpPr>
          <p:cNvPr id="25" name="Text 21"/>
          <p:cNvSpPr/>
          <p:nvPr/>
        </p:nvSpPr>
        <p:spPr>
          <a:xfrm>
            <a:off x="812759" y="6238261"/>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6" name="Text 22"/>
          <p:cNvSpPr/>
          <p:nvPr/>
        </p:nvSpPr>
        <p:spPr>
          <a:xfrm>
            <a:off x="10058403" y="6238261"/>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812759" y="812760"/>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66E"/>
                </a:solidFill>
                <a:latin typeface="DM Sans" pitchFamily="34" charset="0"/>
                <a:ea typeface="DM Sans" pitchFamily="34" charset="-122"/>
                <a:cs typeface="DM Sans" pitchFamily="34" charset="-120"/>
              </a:rPr>
              <a:t>📊 EVIDENCE · ROC-AUC, BARS START AT 0.5 (CHANCE)</a:t>
            </a:r>
            <a:endParaRPr lang="en-US" sz="1300" dirty="0"/>
          </a:p>
        </p:txBody>
      </p:sp>
      <p:sp>
        <p:nvSpPr>
          <p:cNvPr id="3" name="Text 1"/>
          <p:cNvSpPr/>
          <p:nvPr>
            <p:ph type="title"/>
          </p:nvPr>
        </p:nvSpPr>
        <p:spPr>
          <a:xfrm>
            <a:off x="812759" y="1221643"/>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2E"/>
                </a:solidFill>
                <a:latin typeface="DM Sans" pitchFamily="34" charset="0"/>
                <a:ea typeface="DM Sans" pitchFamily="34" charset="-122"/>
                <a:cs typeface="DM Sans" pitchFamily="34" charset="-120"/>
              </a:rPr>
              <a:t>Strong on synthetic data, honest on real data</a:t>
            </a:r>
            <a:endParaRPr lang="en-US" sz="3000" dirty="0"/>
          </a:p>
        </p:txBody>
      </p:sp>
      <p:sp>
        <p:nvSpPr>
          <p:cNvPr id="4" name="Shape 2"/>
          <p:cNvSpPr/>
          <p:nvPr/>
        </p:nvSpPr>
        <p:spPr>
          <a:xfrm>
            <a:off x="819109" y="1824847"/>
            <a:ext cx="5168895" cy="3453213"/>
          </a:xfrm>
          <a:prstGeom prst="roundRect">
            <a:avLst>
              <a:gd name="adj" fmla="val 3494"/>
            </a:avLst>
          </a:prstGeom>
          <a:solidFill>
            <a:srgbClr val="FFFFFF"/>
          </a:solidFill>
          <a:ln w="12700">
            <a:solidFill>
              <a:srgbClr val="D3E0E4"/>
            </a:solidFill>
            <a:prstDash val="solid"/>
          </a:ln>
        </p:spPr>
        <p:txBody>
          <a:bodyPr/>
          <a:p/>
        </p:txBody>
      </p:sp>
      <p:sp>
        <p:nvSpPr>
          <p:cNvPr id="5" name="Text 3"/>
          <p:cNvSpPr/>
          <p:nvPr/>
        </p:nvSpPr>
        <p:spPr>
          <a:xfrm>
            <a:off x="1053645" y="2021303"/>
            <a:ext cx="4840817"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2E"/>
                </a:solidFill>
                <a:latin typeface="DM Sans" pitchFamily="34" charset="0"/>
                <a:ea typeface="DM Sans" pitchFamily="34" charset="-122"/>
                <a:cs typeface="DM Sans" pitchFamily="34" charset="-120"/>
              </a:rPr>
              <a:t>Synthetic cohort</a:t>
            </a:r>
            <a:endParaRPr lang="en-US" sz="1800" dirty="0"/>
          </a:p>
        </p:txBody>
      </p:sp>
      <p:sp>
        <p:nvSpPr>
          <p:cNvPr id="6" name="Text 4"/>
          <p:cNvSpPr/>
          <p:nvPr/>
        </p:nvSpPr>
        <p:spPr>
          <a:xfrm>
            <a:off x="1053645" y="2384524"/>
            <a:ext cx="4840817"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120 patients · 36 held-out test patients · 23.5% prevalence</a:t>
            </a:r>
            <a:endParaRPr lang="en-US" sz="1200" dirty="0"/>
          </a:p>
        </p:txBody>
      </p:sp>
      <p:sp>
        <p:nvSpPr>
          <p:cNvPr id="7" name="Text 5"/>
          <p:cNvSpPr/>
          <p:nvPr/>
        </p:nvSpPr>
        <p:spPr>
          <a:xfrm>
            <a:off x="1053645" y="2695603"/>
            <a:ext cx="2223757" cy="23873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DM Sans" pitchFamily="34" charset="0"/>
                <a:ea typeface="DM Sans" pitchFamily="34" charset="-122"/>
                <a:cs typeface="DM Sans" pitchFamily="34" charset="-120"/>
              </a:rPr>
              <a:t>Personalized twin</a:t>
            </a:r>
            <a:endParaRPr lang="en-US" sz="1200" dirty="0"/>
          </a:p>
        </p:txBody>
      </p:sp>
      <p:sp>
        <p:nvSpPr>
          <p:cNvPr id="8" name="Shape 6"/>
          <p:cNvSpPr/>
          <p:nvPr/>
        </p:nvSpPr>
        <p:spPr>
          <a:xfrm>
            <a:off x="3288797" y="2713391"/>
            <a:ext cx="1650949" cy="177759"/>
          </a:xfrm>
          <a:prstGeom prst="roundRect">
            <a:avLst>
              <a:gd name="adj" fmla="val 50000"/>
            </a:avLst>
          </a:prstGeom>
          <a:solidFill>
            <a:srgbClr val="E3ECEF"/>
          </a:solidFill>
          <a:ln/>
        </p:spPr>
        <p:txBody>
          <a:bodyPr/>
          <a:p/>
        </p:txBody>
      </p:sp>
      <p:sp>
        <p:nvSpPr>
          <p:cNvPr id="9" name="Shape 7"/>
          <p:cNvSpPr/>
          <p:nvPr/>
        </p:nvSpPr>
        <p:spPr>
          <a:xfrm>
            <a:off x="3288797" y="2713391"/>
            <a:ext cx="1574785" cy="177759"/>
          </a:xfrm>
          <a:custGeom>
            <a:avLst/>
            <a:gdLst/>
            <a:ahLst/>
            <a:cxnLst/>
            <a:rect l="l" t="t" r="r" b="b"/>
            <a:pathLst>
              <a:path w="1574785" h="177759">
                <a:moveTo>
                  <a:pt x="0" y="88879"/>
                </a:moveTo>
                <a:arcTo hR="88879" wR="88879" stAng="10800000" swAng="5400000"/>
                <a:lnTo>
                  <a:pt x="1574785" y="0"/>
                </a:lnTo>
                <a:lnTo>
                  <a:pt x="1574785" y="177759"/>
                </a:lnTo>
                <a:lnTo>
                  <a:pt x="88879" y="177759"/>
                </a:lnTo>
                <a:arcTo hR="88879" wR="88879" stAng="5400000" swAng="5400000"/>
                <a:close/>
              </a:path>
            </a:pathLst>
          </a:custGeom>
          <a:solidFill>
            <a:srgbClr val="0F766E"/>
          </a:solidFill>
          <a:ln/>
        </p:spPr>
        <p:txBody>
          <a:bodyPr/>
          <a:p/>
        </p:txBody>
      </p:sp>
      <p:sp>
        <p:nvSpPr>
          <p:cNvPr id="10" name="Text 8"/>
          <p:cNvSpPr/>
          <p:nvPr/>
        </p:nvSpPr>
        <p:spPr>
          <a:xfrm>
            <a:off x="4965109" y="2686741"/>
            <a:ext cx="558774" cy="256525"/>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1F2E"/>
                </a:solidFill>
                <a:latin typeface="DM Sans" pitchFamily="34" charset="0"/>
                <a:ea typeface="DM Sans" pitchFamily="34" charset="-122"/>
                <a:cs typeface="DM Sans" pitchFamily="34" charset="-120"/>
              </a:rPr>
              <a:t>0.977</a:t>
            </a:r>
            <a:endParaRPr lang="en-US" sz="1300" dirty="0"/>
          </a:p>
        </p:txBody>
      </p:sp>
      <p:sp>
        <p:nvSpPr>
          <p:cNvPr id="11" name="Text 9"/>
          <p:cNvSpPr/>
          <p:nvPr/>
        </p:nvSpPr>
        <p:spPr>
          <a:xfrm>
            <a:off x="1053645" y="3015608"/>
            <a:ext cx="2223757"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2E"/>
                </a:solidFill>
                <a:latin typeface="DM Sans" pitchFamily="34" charset="0"/>
                <a:ea typeface="DM Sans" pitchFamily="34" charset="-122"/>
                <a:cs typeface="DM Sans" pitchFamily="34" charset="-120"/>
              </a:rPr>
              <a:t>Logistic regression</a:t>
            </a:r>
            <a:endParaRPr lang="en-US" sz="1200" dirty="0"/>
          </a:p>
        </p:txBody>
      </p:sp>
      <p:sp>
        <p:nvSpPr>
          <p:cNvPr id="12" name="Shape 10"/>
          <p:cNvSpPr/>
          <p:nvPr/>
        </p:nvSpPr>
        <p:spPr>
          <a:xfrm>
            <a:off x="3288797" y="3033396"/>
            <a:ext cx="1650949" cy="177759"/>
          </a:xfrm>
          <a:prstGeom prst="roundRect">
            <a:avLst>
              <a:gd name="adj" fmla="val 50000"/>
            </a:avLst>
          </a:prstGeom>
          <a:solidFill>
            <a:srgbClr val="E3ECEF"/>
          </a:solidFill>
          <a:ln/>
        </p:spPr>
        <p:txBody>
          <a:bodyPr/>
          <a:p/>
        </p:txBody>
      </p:sp>
      <p:sp>
        <p:nvSpPr>
          <p:cNvPr id="13" name="Shape 11"/>
          <p:cNvSpPr/>
          <p:nvPr/>
        </p:nvSpPr>
        <p:spPr>
          <a:xfrm>
            <a:off x="3288797" y="3033396"/>
            <a:ext cx="1485841" cy="177759"/>
          </a:xfrm>
          <a:custGeom>
            <a:avLst/>
            <a:gdLst/>
            <a:ahLst/>
            <a:cxnLst/>
            <a:rect l="l" t="t" r="r" b="b"/>
            <a:pathLst>
              <a:path w="1485841" h="177759">
                <a:moveTo>
                  <a:pt x="0" y="88879"/>
                </a:moveTo>
                <a:arcTo hR="88879" wR="88879" stAng="10800000" swAng="5400000"/>
                <a:lnTo>
                  <a:pt x="1485841" y="0"/>
                </a:lnTo>
                <a:lnTo>
                  <a:pt x="1485841" y="177759"/>
                </a:lnTo>
                <a:lnTo>
                  <a:pt x="88879" y="177759"/>
                </a:lnTo>
                <a:arcTo hR="88879" wR="88879" stAng="5400000" swAng="5400000"/>
                <a:close/>
              </a:path>
            </a:pathLst>
          </a:custGeom>
          <a:solidFill>
            <a:srgbClr val="5B7686"/>
          </a:solidFill>
          <a:ln/>
        </p:spPr>
        <p:txBody>
          <a:bodyPr/>
          <a:p/>
        </p:txBody>
      </p:sp>
      <p:sp>
        <p:nvSpPr>
          <p:cNvPr id="14" name="Text 12"/>
          <p:cNvSpPr/>
          <p:nvPr/>
        </p:nvSpPr>
        <p:spPr>
          <a:xfrm>
            <a:off x="4965109" y="3006747"/>
            <a:ext cx="558774" cy="25652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B1F2E"/>
                </a:solidFill>
                <a:latin typeface="DM Sans" pitchFamily="34" charset="0"/>
                <a:ea typeface="DM Sans" pitchFamily="34" charset="-122"/>
                <a:cs typeface="DM Sans" pitchFamily="34" charset="-120"/>
              </a:rPr>
              <a:t>0.949</a:t>
            </a:r>
            <a:endParaRPr lang="en-US" sz="1300" dirty="0"/>
          </a:p>
        </p:txBody>
      </p:sp>
      <p:sp>
        <p:nvSpPr>
          <p:cNvPr id="15" name="Text 13"/>
          <p:cNvSpPr/>
          <p:nvPr/>
        </p:nvSpPr>
        <p:spPr>
          <a:xfrm>
            <a:off x="1053645" y="3335613"/>
            <a:ext cx="2223757"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2E"/>
                </a:solidFill>
                <a:latin typeface="DM Sans" pitchFamily="34" charset="0"/>
                <a:ea typeface="DM Sans" pitchFamily="34" charset="-122"/>
                <a:cs typeface="DM Sans" pitchFamily="34" charset="-120"/>
              </a:rPr>
              <a:t>Twin, no personalization</a:t>
            </a:r>
            <a:endParaRPr lang="en-US" sz="1200" dirty="0"/>
          </a:p>
        </p:txBody>
      </p:sp>
      <p:sp>
        <p:nvSpPr>
          <p:cNvPr id="16" name="Shape 14"/>
          <p:cNvSpPr/>
          <p:nvPr/>
        </p:nvSpPr>
        <p:spPr>
          <a:xfrm>
            <a:off x="3288797" y="3353402"/>
            <a:ext cx="1650949" cy="177759"/>
          </a:xfrm>
          <a:prstGeom prst="roundRect">
            <a:avLst>
              <a:gd name="adj" fmla="val 50000"/>
            </a:avLst>
          </a:prstGeom>
          <a:solidFill>
            <a:srgbClr val="E3ECEF"/>
          </a:solidFill>
          <a:ln/>
        </p:spPr>
        <p:txBody>
          <a:bodyPr/>
          <a:p/>
        </p:txBody>
      </p:sp>
      <p:sp>
        <p:nvSpPr>
          <p:cNvPr id="17" name="Shape 15"/>
          <p:cNvSpPr/>
          <p:nvPr/>
        </p:nvSpPr>
        <p:spPr>
          <a:xfrm>
            <a:off x="3288797" y="3353402"/>
            <a:ext cx="1250927" cy="177759"/>
          </a:xfrm>
          <a:custGeom>
            <a:avLst/>
            <a:gdLst/>
            <a:ahLst/>
            <a:cxnLst/>
            <a:rect l="l" t="t" r="r" b="b"/>
            <a:pathLst>
              <a:path w="1250927" h="177759">
                <a:moveTo>
                  <a:pt x="0" y="88879"/>
                </a:moveTo>
                <a:arcTo hR="88879" wR="88879" stAng="10800000" swAng="5400000"/>
                <a:lnTo>
                  <a:pt x="1250927" y="0"/>
                </a:lnTo>
                <a:lnTo>
                  <a:pt x="1250927" y="177759"/>
                </a:lnTo>
                <a:lnTo>
                  <a:pt x="88879" y="177759"/>
                </a:lnTo>
                <a:arcTo hR="88879" wR="88879" stAng="5400000" swAng="5400000"/>
                <a:close/>
              </a:path>
            </a:pathLst>
          </a:custGeom>
          <a:solidFill>
            <a:srgbClr val="9FB3BE"/>
          </a:solidFill>
          <a:ln/>
        </p:spPr>
        <p:txBody>
          <a:bodyPr/>
          <a:p/>
        </p:txBody>
      </p:sp>
      <p:sp>
        <p:nvSpPr>
          <p:cNvPr id="18" name="Text 16"/>
          <p:cNvSpPr/>
          <p:nvPr/>
        </p:nvSpPr>
        <p:spPr>
          <a:xfrm>
            <a:off x="4965109" y="3326752"/>
            <a:ext cx="558774" cy="25652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B1F2E"/>
                </a:solidFill>
                <a:latin typeface="DM Sans" pitchFamily="34" charset="0"/>
                <a:ea typeface="DM Sans" pitchFamily="34" charset="-122"/>
                <a:cs typeface="DM Sans" pitchFamily="34" charset="-120"/>
              </a:rPr>
              <a:t>0.879</a:t>
            </a:r>
            <a:endParaRPr lang="en-US" sz="1300" dirty="0"/>
          </a:p>
        </p:txBody>
      </p:sp>
      <p:sp>
        <p:nvSpPr>
          <p:cNvPr id="19" name="Text 17"/>
          <p:cNvSpPr/>
          <p:nvPr/>
        </p:nvSpPr>
        <p:spPr>
          <a:xfrm>
            <a:off x="1053645" y="3646754"/>
            <a:ext cx="4840817" cy="48765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766E"/>
                </a:solidFill>
                <a:latin typeface="DM Sans" pitchFamily="34" charset="0"/>
                <a:ea typeface="DM Sans" pitchFamily="34" charset="-122"/>
                <a:cs typeface="DM Sans" pitchFamily="34" charset="-120"/>
              </a:rPr>
              <a:t>+0.028 AUC</a:t>
            </a:r>
            <a:r>
              <a:rPr lang="en-US" sz="1300" dirty="0">
                <a:solidFill>
                  <a:srgbClr val="0B1F2E"/>
                </a:solidFill>
                <a:latin typeface="DM Sans" pitchFamily="34" charset="0"/>
                <a:ea typeface="DM Sans" pitchFamily="34" charset="-122"/>
                <a:cs typeface="DM Sans" pitchFamily="34" charset="-120"/>
              </a:rPr>
              <a:t> vs logistic regression (95% CI +0.015 to +0.043). Personalization lifts the twin from 0.879 to 0.977.</a:t>
            </a:r>
            <a:endParaRPr lang="en-US" sz="1300" dirty="0"/>
          </a:p>
        </p:txBody>
      </p:sp>
      <p:sp>
        <p:nvSpPr>
          <p:cNvPr id="20" name="Text 18"/>
          <p:cNvSpPr/>
          <p:nvPr/>
        </p:nvSpPr>
        <p:spPr>
          <a:xfrm>
            <a:off x="1053645" y="4197883"/>
            <a:ext cx="4699822" cy="358022"/>
          </a:xfrm>
          <a:prstGeom prst="roundRect">
            <a:avLst>
              <a:gd name="adj" fmla="val 21284"/>
            </a:avLst>
          </a:prstGeom>
          <a:solidFill>
            <a:srgbClr val="FDF0D5"/>
          </a:solidFill>
          <a:ln/>
        </p:spPr>
        <p:txBody>
          <a:bodyPr wrap="square" lIns="104682" tIns="53882" rIns="0" bIns="28482" rtlCol="0" anchor="t">
            <a:normAutofit/>
          </a:bodyPr>
          <a:lstStyle/>
          <a:p>
            <a:pPr algn="l" indent="0" marL="0">
              <a:lnSpc>
                <a:spcPts val="1620"/>
              </a:lnSpc>
              <a:buNone/>
            </a:pPr>
            <a:r>
              <a:rPr lang="en-US" sz="1200" dirty="0">
                <a:solidFill>
                  <a:srgbClr val="0B1F2E"/>
                </a:solidFill>
                <a:latin typeface="DM Sans" pitchFamily="34" charset="0"/>
                <a:ea typeface="DM Sans" pitchFamily="34" charset="-122"/>
                <a:cs typeface="DM Sans" pitchFamily="34" charset="-120"/>
              </a:rPr>
              <a:t>Optimistic: the twin’s structure resembles the data generator.</a:t>
            </a:r>
            <a:endParaRPr lang="en-US" sz="1200" dirty="0"/>
          </a:p>
        </p:txBody>
      </p:sp>
      <p:sp>
        <p:nvSpPr>
          <p:cNvPr id="21" name="Shape 19"/>
          <p:cNvSpPr/>
          <p:nvPr/>
        </p:nvSpPr>
        <p:spPr>
          <a:xfrm>
            <a:off x="6203894" y="1824847"/>
            <a:ext cx="5168959" cy="3453213"/>
          </a:xfrm>
          <a:prstGeom prst="roundRect">
            <a:avLst>
              <a:gd name="adj" fmla="val 3494"/>
            </a:avLst>
          </a:prstGeom>
          <a:solidFill>
            <a:srgbClr val="FFFFFF"/>
          </a:solidFill>
          <a:ln w="12700">
            <a:solidFill>
              <a:srgbClr val="D3E0E4"/>
            </a:solidFill>
            <a:prstDash val="solid"/>
          </a:ln>
        </p:spPr>
        <p:txBody>
          <a:bodyPr/>
          <a:p/>
        </p:txBody>
      </p:sp>
      <p:sp>
        <p:nvSpPr>
          <p:cNvPr id="22" name="Text 20"/>
          <p:cNvSpPr/>
          <p:nvPr/>
        </p:nvSpPr>
        <p:spPr>
          <a:xfrm>
            <a:off x="6438430" y="2021303"/>
            <a:ext cx="4840883"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2E"/>
                </a:solidFill>
                <a:latin typeface="DM Sans" pitchFamily="34" charset="0"/>
                <a:ea typeface="DM Sans" pitchFamily="34" charset="-122"/>
                <a:cs typeface="DM Sans" pitchFamily="34" charset="-120"/>
              </a:rPr>
              <a:t>Real open data (HEMOBP)</a:t>
            </a:r>
            <a:endParaRPr lang="en-US" sz="1800" dirty="0"/>
          </a:p>
        </p:txBody>
      </p:sp>
      <p:sp>
        <p:nvSpPr>
          <p:cNvPr id="23" name="Text 21"/>
          <p:cNvSpPr/>
          <p:nvPr/>
        </p:nvSpPr>
        <p:spPr>
          <a:xfrm>
            <a:off x="6438430" y="2384524"/>
            <a:ext cx="4928073"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328 patients · 14,638 sessions · 87 test patients · 9.5% hypotension</a:t>
            </a:r>
            <a:endParaRPr lang="en-US" sz="1200" dirty="0"/>
          </a:p>
        </p:txBody>
      </p:sp>
      <p:sp>
        <p:nvSpPr>
          <p:cNvPr id="24" name="Text 22"/>
          <p:cNvSpPr/>
          <p:nvPr/>
        </p:nvSpPr>
        <p:spPr>
          <a:xfrm>
            <a:off x="6438430" y="2695603"/>
            <a:ext cx="2223757" cy="23873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DM Sans" pitchFamily="34" charset="0"/>
                <a:ea typeface="DM Sans" pitchFamily="34" charset="-122"/>
                <a:cs typeface="DM Sans" pitchFamily="34" charset="-120"/>
              </a:rPr>
              <a:t>Hybrid (standard + twin)</a:t>
            </a:r>
            <a:endParaRPr lang="en-US" sz="1200" dirty="0"/>
          </a:p>
        </p:txBody>
      </p:sp>
      <p:sp>
        <p:nvSpPr>
          <p:cNvPr id="25" name="Shape 23"/>
          <p:cNvSpPr/>
          <p:nvPr/>
        </p:nvSpPr>
        <p:spPr>
          <a:xfrm>
            <a:off x="8673581" y="2713391"/>
            <a:ext cx="1650949" cy="177759"/>
          </a:xfrm>
          <a:prstGeom prst="roundRect">
            <a:avLst>
              <a:gd name="adj" fmla="val 50000"/>
            </a:avLst>
          </a:prstGeom>
          <a:solidFill>
            <a:srgbClr val="E3ECEF"/>
          </a:solidFill>
          <a:ln/>
        </p:spPr>
        <p:txBody>
          <a:bodyPr/>
          <a:p/>
        </p:txBody>
      </p:sp>
      <p:sp>
        <p:nvSpPr>
          <p:cNvPr id="26" name="Shape 24"/>
          <p:cNvSpPr/>
          <p:nvPr/>
        </p:nvSpPr>
        <p:spPr>
          <a:xfrm>
            <a:off x="8673581" y="2713391"/>
            <a:ext cx="1225496" cy="177759"/>
          </a:xfrm>
          <a:custGeom>
            <a:avLst/>
            <a:gdLst/>
            <a:ahLst/>
            <a:cxnLst/>
            <a:rect l="l" t="t" r="r" b="b"/>
            <a:pathLst>
              <a:path w="1225496" h="177759">
                <a:moveTo>
                  <a:pt x="0" y="88879"/>
                </a:moveTo>
                <a:arcTo hR="88879" wR="88879" stAng="10800000" swAng="5400000"/>
                <a:lnTo>
                  <a:pt x="1225496" y="0"/>
                </a:lnTo>
                <a:lnTo>
                  <a:pt x="1225496" y="177759"/>
                </a:lnTo>
                <a:lnTo>
                  <a:pt x="88879" y="177759"/>
                </a:lnTo>
                <a:arcTo hR="88879" wR="88879" stAng="5400000" swAng="5400000"/>
                <a:close/>
              </a:path>
            </a:pathLst>
          </a:custGeom>
          <a:solidFill>
            <a:srgbClr val="B7791F"/>
          </a:solidFill>
          <a:ln/>
        </p:spPr>
        <p:txBody>
          <a:bodyPr/>
          <a:p/>
        </p:txBody>
      </p:sp>
      <p:sp>
        <p:nvSpPr>
          <p:cNvPr id="27" name="Text 25"/>
          <p:cNvSpPr/>
          <p:nvPr/>
        </p:nvSpPr>
        <p:spPr>
          <a:xfrm>
            <a:off x="10349895" y="2686741"/>
            <a:ext cx="558774" cy="256525"/>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1F2E"/>
                </a:solidFill>
                <a:latin typeface="DM Sans" pitchFamily="34" charset="0"/>
                <a:ea typeface="DM Sans" pitchFamily="34" charset="-122"/>
                <a:cs typeface="DM Sans" pitchFamily="34" charset="-120"/>
              </a:rPr>
              <a:t>0.871</a:t>
            </a:r>
            <a:endParaRPr lang="en-US" sz="1300" dirty="0"/>
          </a:p>
        </p:txBody>
      </p:sp>
      <p:sp>
        <p:nvSpPr>
          <p:cNvPr id="28" name="Text 26"/>
          <p:cNvSpPr/>
          <p:nvPr/>
        </p:nvSpPr>
        <p:spPr>
          <a:xfrm>
            <a:off x="6438430" y="3015608"/>
            <a:ext cx="2223757"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2E"/>
                </a:solidFill>
                <a:latin typeface="DM Sans" pitchFamily="34" charset="0"/>
                <a:ea typeface="DM Sans" pitchFamily="34" charset="-122"/>
                <a:cs typeface="DM Sans" pitchFamily="34" charset="-120"/>
              </a:rPr>
              <a:t>Logistic regression</a:t>
            </a:r>
            <a:endParaRPr lang="en-US" sz="1200" dirty="0"/>
          </a:p>
        </p:txBody>
      </p:sp>
      <p:sp>
        <p:nvSpPr>
          <p:cNvPr id="29" name="Shape 27"/>
          <p:cNvSpPr/>
          <p:nvPr/>
        </p:nvSpPr>
        <p:spPr>
          <a:xfrm>
            <a:off x="8673581" y="3033396"/>
            <a:ext cx="1650949" cy="177759"/>
          </a:xfrm>
          <a:prstGeom prst="roundRect">
            <a:avLst>
              <a:gd name="adj" fmla="val 50000"/>
            </a:avLst>
          </a:prstGeom>
          <a:solidFill>
            <a:srgbClr val="E3ECEF"/>
          </a:solidFill>
          <a:ln/>
        </p:spPr>
        <p:txBody>
          <a:bodyPr/>
          <a:p/>
        </p:txBody>
      </p:sp>
      <p:sp>
        <p:nvSpPr>
          <p:cNvPr id="30" name="Shape 28"/>
          <p:cNvSpPr/>
          <p:nvPr/>
        </p:nvSpPr>
        <p:spPr>
          <a:xfrm>
            <a:off x="8673581" y="3033396"/>
            <a:ext cx="1200129" cy="177759"/>
          </a:xfrm>
          <a:custGeom>
            <a:avLst/>
            <a:gdLst/>
            <a:ahLst/>
            <a:cxnLst/>
            <a:rect l="l" t="t" r="r" b="b"/>
            <a:pathLst>
              <a:path w="1200129" h="177759">
                <a:moveTo>
                  <a:pt x="0" y="88879"/>
                </a:moveTo>
                <a:arcTo hR="88879" wR="88879" stAng="10800000" swAng="5400000"/>
                <a:lnTo>
                  <a:pt x="1200129" y="0"/>
                </a:lnTo>
                <a:lnTo>
                  <a:pt x="1200129" y="177759"/>
                </a:lnTo>
                <a:lnTo>
                  <a:pt x="88879" y="177759"/>
                </a:lnTo>
                <a:arcTo hR="88879" wR="88879" stAng="5400000" swAng="5400000"/>
                <a:close/>
              </a:path>
            </a:pathLst>
          </a:custGeom>
          <a:solidFill>
            <a:srgbClr val="5B7686"/>
          </a:solidFill>
          <a:ln/>
        </p:spPr>
        <p:txBody>
          <a:bodyPr/>
          <a:p/>
        </p:txBody>
      </p:sp>
      <p:sp>
        <p:nvSpPr>
          <p:cNvPr id="31" name="Text 29"/>
          <p:cNvSpPr/>
          <p:nvPr/>
        </p:nvSpPr>
        <p:spPr>
          <a:xfrm>
            <a:off x="10349895" y="3006747"/>
            <a:ext cx="558774" cy="25652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B1F2E"/>
                </a:solidFill>
                <a:latin typeface="DM Sans" pitchFamily="34" charset="0"/>
                <a:ea typeface="DM Sans" pitchFamily="34" charset="-122"/>
                <a:cs typeface="DM Sans" pitchFamily="34" charset="-120"/>
              </a:rPr>
              <a:t>0.863</a:t>
            </a:r>
            <a:endParaRPr lang="en-US" sz="1300" dirty="0"/>
          </a:p>
        </p:txBody>
      </p:sp>
      <p:sp>
        <p:nvSpPr>
          <p:cNvPr id="32" name="Text 30"/>
          <p:cNvSpPr/>
          <p:nvPr/>
        </p:nvSpPr>
        <p:spPr>
          <a:xfrm>
            <a:off x="6438430" y="3335613"/>
            <a:ext cx="2223757"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2E"/>
                </a:solidFill>
                <a:latin typeface="DM Sans" pitchFamily="34" charset="0"/>
                <a:ea typeface="DM Sans" pitchFamily="34" charset="-122"/>
                <a:cs typeface="DM Sans" pitchFamily="34" charset="-120"/>
              </a:rPr>
              <a:t>Personalized twin alone</a:t>
            </a:r>
            <a:endParaRPr lang="en-US" sz="1200" dirty="0"/>
          </a:p>
        </p:txBody>
      </p:sp>
      <p:sp>
        <p:nvSpPr>
          <p:cNvPr id="33" name="Shape 31"/>
          <p:cNvSpPr/>
          <p:nvPr/>
        </p:nvSpPr>
        <p:spPr>
          <a:xfrm>
            <a:off x="8673581" y="3353402"/>
            <a:ext cx="1650949" cy="177759"/>
          </a:xfrm>
          <a:prstGeom prst="roundRect">
            <a:avLst>
              <a:gd name="adj" fmla="val 50000"/>
            </a:avLst>
          </a:prstGeom>
          <a:solidFill>
            <a:srgbClr val="E3ECEF"/>
          </a:solidFill>
          <a:ln/>
        </p:spPr>
        <p:txBody>
          <a:bodyPr/>
          <a:p/>
        </p:txBody>
      </p:sp>
      <p:sp>
        <p:nvSpPr>
          <p:cNvPr id="34" name="Shape 32"/>
          <p:cNvSpPr/>
          <p:nvPr/>
        </p:nvSpPr>
        <p:spPr>
          <a:xfrm>
            <a:off x="8673581" y="3353402"/>
            <a:ext cx="781035" cy="177759"/>
          </a:xfrm>
          <a:custGeom>
            <a:avLst/>
            <a:gdLst/>
            <a:ahLst/>
            <a:cxnLst/>
            <a:rect l="l" t="t" r="r" b="b"/>
            <a:pathLst>
              <a:path w="781035" h="177759">
                <a:moveTo>
                  <a:pt x="0" y="88879"/>
                </a:moveTo>
                <a:arcTo hR="88879" wR="88879" stAng="10800000" swAng="5400000"/>
                <a:lnTo>
                  <a:pt x="781035" y="0"/>
                </a:lnTo>
                <a:lnTo>
                  <a:pt x="781035" y="177759"/>
                </a:lnTo>
                <a:lnTo>
                  <a:pt x="88879" y="177759"/>
                </a:lnTo>
                <a:arcTo hR="88879" wR="88879" stAng="5400000" swAng="5400000"/>
                <a:close/>
              </a:path>
            </a:pathLst>
          </a:custGeom>
          <a:solidFill>
            <a:srgbClr val="0F766E"/>
          </a:solidFill>
          <a:ln/>
        </p:spPr>
        <p:txBody>
          <a:bodyPr/>
          <a:p/>
        </p:txBody>
      </p:sp>
      <p:sp>
        <p:nvSpPr>
          <p:cNvPr id="35" name="Text 33"/>
          <p:cNvSpPr/>
          <p:nvPr/>
        </p:nvSpPr>
        <p:spPr>
          <a:xfrm>
            <a:off x="10349895" y="3326752"/>
            <a:ext cx="558774" cy="25652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B1F2E"/>
                </a:solidFill>
                <a:latin typeface="DM Sans" pitchFamily="34" charset="0"/>
                <a:ea typeface="DM Sans" pitchFamily="34" charset="-122"/>
                <a:cs typeface="DM Sans" pitchFamily="34" charset="-120"/>
              </a:rPr>
              <a:t>0.736</a:t>
            </a:r>
            <a:endParaRPr lang="en-US" sz="1300" dirty="0"/>
          </a:p>
        </p:txBody>
      </p:sp>
      <p:sp>
        <p:nvSpPr>
          <p:cNvPr id="36" name="Text 34"/>
          <p:cNvSpPr/>
          <p:nvPr/>
        </p:nvSpPr>
        <p:spPr>
          <a:xfrm>
            <a:off x="6438430" y="3655619"/>
            <a:ext cx="2223757"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2E"/>
                </a:solidFill>
                <a:latin typeface="DM Sans" pitchFamily="34" charset="0"/>
                <a:ea typeface="DM Sans" pitchFamily="34" charset="-122"/>
                <a:cs typeface="DM Sans" pitchFamily="34" charset="-120"/>
              </a:rPr>
              <a:t>Twin, no personalization</a:t>
            </a:r>
            <a:endParaRPr lang="en-US" sz="1200" dirty="0"/>
          </a:p>
        </p:txBody>
      </p:sp>
      <p:sp>
        <p:nvSpPr>
          <p:cNvPr id="37" name="Shape 35"/>
          <p:cNvSpPr/>
          <p:nvPr/>
        </p:nvSpPr>
        <p:spPr>
          <a:xfrm>
            <a:off x="8673581" y="3673407"/>
            <a:ext cx="1650949" cy="177759"/>
          </a:xfrm>
          <a:prstGeom prst="roundRect">
            <a:avLst>
              <a:gd name="adj" fmla="val 50000"/>
            </a:avLst>
          </a:prstGeom>
          <a:solidFill>
            <a:srgbClr val="E3ECEF"/>
          </a:solidFill>
          <a:ln/>
        </p:spPr>
        <p:txBody>
          <a:bodyPr/>
          <a:p/>
        </p:txBody>
      </p:sp>
      <p:sp>
        <p:nvSpPr>
          <p:cNvPr id="38" name="Shape 36"/>
          <p:cNvSpPr/>
          <p:nvPr/>
        </p:nvSpPr>
        <p:spPr>
          <a:xfrm>
            <a:off x="8673581" y="3673407"/>
            <a:ext cx="355582" cy="177759"/>
          </a:xfrm>
          <a:custGeom>
            <a:avLst/>
            <a:gdLst/>
            <a:ahLst/>
            <a:cxnLst/>
            <a:rect l="l" t="t" r="r" b="b"/>
            <a:pathLst>
              <a:path w="355582" h="177759">
                <a:moveTo>
                  <a:pt x="0" y="88879"/>
                </a:moveTo>
                <a:arcTo hR="88879" wR="88879" stAng="10800000" swAng="5400000"/>
                <a:lnTo>
                  <a:pt x="355582" y="0"/>
                </a:lnTo>
                <a:lnTo>
                  <a:pt x="355582" y="177759"/>
                </a:lnTo>
                <a:lnTo>
                  <a:pt x="88879" y="177759"/>
                </a:lnTo>
                <a:arcTo hR="88879" wR="88879" stAng="5400000" swAng="5400000"/>
                <a:close/>
              </a:path>
            </a:pathLst>
          </a:custGeom>
          <a:solidFill>
            <a:srgbClr val="9FB3BE"/>
          </a:solidFill>
          <a:ln/>
        </p:spPr>
        <p:txBody>
          <a:bodyPr/>
          <a:p/>
        </p:txBody>
      </p:sp>
      <p:sp>
        <p:nvSpPr>
          <p:cNvPr id="39" name="Text 37"/>
          <p:cNvSpPr/>
          <p:nvPr/>
        </p:nvSpPr>
        <p:spPr>
          <a:xfrm>
            <a:off x="10349895" y="3646754"/>
            <a:ext cx="558774" cy="25652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0B1F2E"/>
                </a:solidFill>
                <a:latin typeface="DM Sans" pitchFamily="34" charset="0"/>
                <a:ea typeface="DM Sans" pitchFamily="34" charset="-122"/>
                <a:cs typeface="DM Sans" pitchFamily="34" charset="-120"/>
              </a:rPr>
              <a:t>0.607</a:t>
            </a:r>
            <a:endParaRPr lang="en-US" sz="1300" dirty="0"/>
          </a:p>
        </p:txBody>
      </p:sp>
      <p:sp>
        <p:nvSpPr>
          <p:cNvPr id="40" name="Text 38"/>
          <p:cNvSpPr/>
          <p:nvPr/>
        </p:nvSpPr>
        <p:spPr>
          <a:xfrm>
            <a:off x="6438430" y="3966759"/>
            <a:ext cx="4840883" cy="48765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5B00"/>
                </a:solidFill>
                <a:latin typeface="DM Sans" pitchFamily="34" charset="0"/>
                <a:ea typeface="DM Sans" pitchFamily="34" charset="-122"/>
                <a:cs typeface="DM Sans" pitchFamily="34" charset="-120"/>
              </a:rPr>
              <a:t>Twin alone: −0.127</a:t>
            </a:r>
            <a:r>
              <a:rPr lang="en-US" sz="1300" dirty="0">
                <a:solidFill>
                  <a:srgbClr val="0B1F2E"/>
                </a:solidFill>
                <a:latin typeface="DM Sans" pitchFamily="34" charset="0"/>
                <a:ea typeface="DM Sans" pitchFamily="34" charset="-122"/>
                <a:cs typeface="DM Sans" pitchFamily="34" charset="-120"/>
              </a:rPr>
              <a:t> vs logistic regression (CI −0.159 to −0.097). </a:t>
            </a:r>
            <a:r>
              <a:rPr lang="en-US" sz="1300" b="1" dirty="0">
                <a:solidFill>
                  <a:srgbClr val="0B1F2E"/>
                </a:solidFill>
                <a:latin typeface="DM Sans" pitchFamily="34" charset="0"/>
                <a:ea typeface="DM Sans" pitchFamily="34" charset="-122"/>
                <a:cs typeface="DM Sans" pitchFamily="34" charset="-120"/>
              </a:rPr>
              <a:t>Hybrid: +0.008</a:t>
            </a:r>
            <a:r>
              <a:rPr lang="en-US" sz="1300" dirty="0">
                <a:solidFill>
                  <a:srgbClr val="0B1F2E"/>
                </a:solidFill>
                <a:latin typeface="DM Sans" pitchFamily="34" charset="0"/>
                <a:ea typeface="DM Sans" pitchFamily="34" charset="-122"/>
                <a:cs typeface="DM Sans" pitchFamily="34" charset="-120"/>
              </a:rPr>
              <a:t> (CI +0.000 to +0.016), about on par.</a:t>
            </a:r>
            <a:endParaRPr lang="en-US" sz="1300" dirty="0"/>
          </a:p>
        </p:txBody>
      </p:sp>
      <p:sp>
        <p:nvSpPr>
          <p:cNvPr id="41" name="Text 39"/>
          <p:cNvSpPr/>
          <p:nvPr/>
        </p:nvSpPr>
        <p:spPr>
          <a:xfrm>
            <a:off x="6438430" y="4517889"/>
            <a:ext cx="4699886" cy="563717"/>
          </a:xfrm>
          <a:prstGeom prst="roundRect">
            <a:avLst>
              <a:gd name="adj" fmla="val 13517"/>
            </a:avLst>
          </a:prstGeom>
          <a:solidFill>
            <a:srgbClr val="FDF0D5"/>
          </a:solidFill>
          <a:ln/>
        </p:spPr>
        <p:txBody>
          <a:bodyPr wrap="square" lIns="104682" tIns="53882" rIns="0" bIns="28482" rtlCol="0" anchor="t">
            <a:normAutofit/>
          </a:bodyPr>
          <a:lstStyle/>
          <a:p>
            <a:pPr algn="l" indent="0" marL="0">
              <a:lnSpc>
                <a:spcPts val="1620"/>
              </a:lnSpc>
              <a:buNone/>
            </a:pPr>
            <a:r>
              <a:rPr lang="en-US" sz="1200" dirty="0">
                <a:solidFill>
                  <a:srgbClr val="0B1F2E"/>
                </a:solidFill>
                <a:latin typeface="DM Sans" pitchFamily="34" charset="0"/>
                <a:ea typeface="DM Sans" pitchFamily="34" charset="-122"/>
                <a:cs typeface="DM Sans" pitchFamily="34" charset="-120"/>
              </a:rPr>
              <a:t>Reported openly: sparse readings (median 6 per session) limit identifiability.</a:t>
            </a:r>
            <a:endParaRPr lang="en-US" sz="1200" dirty="0"/>
          </a:p>
        </p:txBody>
      </p:sp>
      <p:sp>
        <p:nvSpPr>
          <p:cNvPr id="42" name="Text 40"/>
          <p:cNvSpPr/>
          <p:nvPr/>
        </p:nvSpPr>
        <p:spPr>
          <a:xfrm>
            <a:off x="812759" y="6238258"/>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43" name="Text 41"/>
          <p:cNvSpPr/>
          <p:nvPr/>
        </p:nvSpPr>
        <p:spPr>
          <a:xfrm>
            <a:off x="10058403" y="6238258"/>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5A68"/>
                </a:solidFill>
                <a:latin typeface="DM Sans" pitchFamily="34" charset="0"/>
                <a:ea typeface="DM Sans" pitchFamily="34" charset="-122"/>
                <a:cs typeface="DM Sans" pitchFamily="34"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2E"/>
        </a:solidFill>
      </p:bgPr>
    </p:bg>
    <p:spTree>
      <p:nvGrpSpPr>
        <p:cNvPr id="1" name=""/>
        <p:cNvGrpSpPr/>
        <p:nvPr/>
      </p:nvGrpSpPr>
      <p:grpSpPr>
        <a:xfrm>
          <a:off x="0" y="0"/>
          <a:ext cx="0" cy="0"/>
          <a:chOff x="0" y="0"/>
          <a:chExt cx="0" cy="0"/>
        </a:xfrm>
      </p:grpSpPr>
      <p:sp>
        <p:nvSpPr>
          <p:cNvPr id="2" name="Text 0"/>
          <p:cNvSpPr/>
          <p:nvPr/>
        </p:nvSpPr>
        <p:spPr>
          <a:xfrm>
            <a:off x="812759" y="812760"/>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 CLINICIAN DASHBOARD</a:t>
            </a:r>
            <a:endParaRPr lang="en-US" sz="1300" dirty="0"/>
          </a:p>
        </p:txBody>
      </p:sp>
      <p:sp>
        <p:nvSpPr>
          <p:cNvPr id="3" name="Text 1"/>
          <p:cNvSpPr/>
          <p:nvPr>
            <p:ph type="title"/>
          </p:nvPr>
        </p:nvSpPr>
        <p:spPr>
          <a:xfrm>
            <a:off x="812759" y="1247074"/>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EAF3F6"/>
                </a:solidFill>
                <a:latin typeface="DM Sans" pitchFamily="34" charset="0"/>
                <a:ea typeface="DM Sans" pitchFamily="34" charset="-122"/>
                <a:cs typeface="DM Sans" pitchFamily="34" charset="-120"/>
              </a:rPr>
              <a:t>13 views and a guided case study</a:t>
            </a:r>
            <a:endParaRPr lang="en-US" sz="3000" dirty="0"/>
          </a:p>
        </p:txBody>
      </p:sp>
      <p:sp>
        <p:nvSpPr>
          <p:cNvPr id="4" name="Shape 2"/>
          <p:cNvSpPr/>
          <p:nvPr/>
        </p:nvSpPr>
        <p:spPr>
          <a:xfrm>
            <a:off x="819109" y="1875709"/>
            <a:ext cx="2971762" cy="1557846"/>
          </a:xfrm>
          <a:prstGeom prst="roundRect">
            <a:avLst>
              <a:gd name="adj" fmla="val 7745"/>
            </a:avLst>
          </a:prstGeom>
          <a:solidFill>
            <a:srgbClr val="12304A"/>
          </a:solidFill>
          <a:ln w="12700">
            <a:solidFill>
              <a:srgbClr val="234E70"/>
            </a:solidFill>
            <a:prstDash val="solid"/>
          </a:ln>
        </p:spPr>
        <p:txBody>
          <a:bodyPr/>
          <a:p/>
        </p:txBody>
      </p:sp>
      <p:sp>
        <p:nvSpPr>
          <p:cNvPr id="5" name="Text 3"/>
          <p:cNvSpPr/>
          <p:nvPr/>
        </p:nvSpPr>
        <p:spPr>
          <a:xfrm>
            <a:off x="1015563" y="2046731"/>
            <a:ext cx="2656218"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Unit · 4 views</a:t>
            </a:r>
            <a:endParaRPr lang="en-US" sz="1600" dirty="0"/>
          </a:p>
        </p:txBody>
      </p:sp>
      <p:sp>
        <p:nvSpPr>
          <p:cNvPr id="6" name="Text 4"/>
          <p:cNvSpPr/>
          <p:nvPr/>
        </p:nvSpPr>
        <p:spPr>
          <a:xfrm>
            <a:off x="1015563" y="2341305"/>
            <a:ext cx="2656218" cy="91676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F3F6"/>
                </a:solidFill>
                <a:latin typeface="DM Sans" pitchFamily="34" charset="0"/>
                <a:ea typeface="DM Sans" pitchFamily="34" charset="-122"/>
                <a:cs typeface="DM Sans" pitchFamily="34" charset="-120"/>
              </a:rPr>
              <a:t>Project overview, unit overview, patient list, weekly priority list (risk × uncertainty, no treatments assigned)</a:t>
            </a:r>
            <a:endParaRPr lang="en-US" sz="1300" dirty="0"/>
          </a:p>
        </p:txBody>
      </p:sp>
      <p:sp>
        <p:nvSpPr>
          <p:cNvPr id="7" name="Shape 5"/>
          <p:cNvSpPr/>
          <p:nvPr/>
        </p:nvSpPr>
        <p:spPr>
          <a:xfrm>
            <a:off x="3930532" y="1875709"/>
            <a:ext cx="2971826" cy="1557846"/>
          </a:xfrm>
          <a:prstGeom prst="roundRect">
            <a:avLst>
              <a:gd name="adj" fmla="val 7745"/>
            </a:avLst>
          </a:prstGeom>
          <a:solidFill>
            <a:srgbClr val="12304A"/>
          </a:solidFill>
          <a:ln w="12700">
            <a:solidFill>
              <a:srgbClr val="234E70"/>
            </a:solidFill>
            <a:prstDash val="solid"/>
          </a:ln>
        </p:spPr>
        <p:txBody>
          <a:bodyPr/>
          <a:p/>
        </p:txBody>
      </p:sp>
      <p:sp>
        <p:nvSpPr>
          <p:cNvPr id="8" name="Text 6"/>
          <p:cNvSpPr/>
          <p:nvPr/>
        </p:nvSpPr>
        <p:spPr>
          <a:xfrm>
            <a:off x="4126986" y="2046731"/>
            <a:ext cx="2656285"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Patient · 2 views</a:t>
            </a:r>
            <a:endParaRPr lang="en-US" sz="1600" dirty="0"/>
          </a:p>
        </p:txBody>
      </p:sp>
      <p:sp>
        <p:nvSpPr>
          <p:cNvPr id="9" name="Text 7"/>
          <p:cNvSpPr/>
          <p:nvPr/>
        </p:nvSpPr>
        <p:spPr>
          <a:xfrm>
            <a:off x="4126986" y="2341305"/>
            <a:ext cx="2656285" cy="91676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F3F6"/>
                </a:solidFill>
                <a:latin typeface="DM Sans" pitchFamily="34" charset="0"/>
                <a:ea typeface="DM Sans" pitchFamily="34" charset="-122"/>
                <a:cs typeface="DM Sans" pitchFamily="34" charset="-120"/>
              </a:rPr>
              <a:t>Twin profile with parameter uncertainty and explanations; pre-session card with the what-if planner</a:t>
            </a:r>
            <a:endParaRPr lang="en-US" sz="1300" dirty="0"/>
          </a:p>
        </p:txBody>
      </p:sp>
      <p:sp>
        <p:nvSpPr>
          <p:cNvPr id="10" name="Shape 8"/>
          <p:cNvSpPr/>
          <p:nvPr/>
        </p:nvSpPr>
        <p:spPr>
          <a:xfrm>
            <a:off x="819109" y="3573214"/>
            <a:ext cx="2971762" cy="1335005"/>
          </a:xfrm>
          <a:prstGeom prst="roundRect">
            <a:avLst>
              <a:gd name="adj" fmla="val 9037"/>
            </a:avLst>
          </a:prstGeom>
          <a:solidFill>
            <a:srgbClr val="12304A"/>
          </a:solidFill>
          <a:ln w="12700">
            <a:solidFill>
              <a:srgbClr val="234E70"/>
            </a:solidFill>
            <a:prstDash val="solid"/>
          </a:ln>
        </p:spPr>
        <p:txBody>
          <a:bodyPr/>
          <a:p/>
        </p:txBody>
      </p:sp>
      <p:sp>
        <p:nvSpPr>
          <p:cNvPr id="11" name="Text 9"/>
          <p:cNvSpPr/>
          <p:nvPr/>
        </p:nvSpPr>
        <p:spPr>
          <a:xfrm>
            <a:off x="1015563" y="3744240"/>
            <a:ext cx="2656218"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Story · 3 views</a:t>
            </a:r>
            <a:endParaRPr lang="en-US" sz="1600" dirty="0"/>
          </a:p>
        </p:txBody>
      </p:sp>
      <p:sp>
        <p:nvSpPr>
          <p:cNvPr id="12" name="Text 10"/>
          <p:cNvSpPr/>
          <p:nvPr/>
        </p:nvSpPr>
        <p:spPr>
          <a:xfrm>
            <a:off x="1015563" y="4038814"/>
            <a:ext cx="2656218" cy="69392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F3F6"/>
                </a:solidFill>
                <a:latin typeface="DM Sans" pitchFamily="34" charset="0"/>
                <a:ea typeface="DM Sans" pitchFamily="34" charset="-122"/>
                <a:cs typeface="DM Sans" pitchFamily="34" charset="-120"/>
              </a:rPr>
              <a:t>Ravi guided demo, historical replay (prediction first, outcome after), simulated daily check-in</a:t>
            </a:r>
            <a:endParaRPr lang="en-US" sz="1300" dirty="0"/>
          </a:p>
        </p:txBody>
      </p:sp>
      <p:sp>
        <p:nvSpPr>
          <p:cNvPr id="13" name="Shape 11"/>
          <p:cNvSpPr/>
          <p:nvPr/>
        </p:nvSpPr>
        <p:spPr>
          <a:xfrm>
            <a:off x="3930532" y="3573214"/>
            <a:ext cx="2971826" cy="1335005"/>
          </a:xfrm>
          <a:prstGeom prst="roundRect">
            <a:avLst>
              <a:gd name="adj" fmla="val 9037"/>
            </a:avLst>
          </a:prstGeom>
          <a:solidFill>
            <a:srgbClr val="12304A"/>
          </a:solidFill>
          <a:ln w="12700">
            <a:solidFill>
              <a:srgbClr val="234E70"/>
            </a:solidFill>
            <a:prstDash val="solid"/>
          </a:ln>
        </p:spPr>
        <p:txBody>
          <a:bodyPr/>
          <a:p/>
        </p:txBody>
      </p:sp>
      <p:sp>
        <p:nvSpPr>
          <p:cNvPr id="14" name="Text 12"/>
          <p:cNvSpPr/>
          <p:nvPr/>
        </p:nvSpPr>
        <p:spPr>
          <a:xfrm>
            <a:off x="4126986" y="3744240"/>
            <a:ext cx="2656285" cy="26917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Trust · 4 views</a:t>
            </a:r>
            <a:endParaRPr lang="en-US" sz="1600" dirty="0"/>
          </a:p>
        </p:txBody>
      </p:sp>
      <p:sp>
        <p:nvSpPr>
          <p:cNvPr id="15" name="Text 13"/>
          <p:cNvSpPr/>
          <p:nvPr/>
        </p:nvSpPr>
        <p:spPr>
          <a:xfrm>
            <a:off x="4126986" y="4038814"/>
            <a:ext cx="2656285" cy="69392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F3F6"/>
                </a:solidFill>
                <a:latin typeface="DM Sans" pitchFamily="34" charset="0"/>
                <a:ea typeface="DM Sans" pitchFamily="34" charset="-122"/>
                <a:cs typeface="DM Sans" pitchFamily="34" charset="-120"/>
              </a:rPr>
              <a:t>Model evaluation, real-data validation, data quality, limitations and safety</a:t>
            </a:r>
            <a:endParaRPr lang="en-US" sz="1300" dirty="0"/>
          </a:p>
        </p:txBody>
      </p:sp>
      <p:sp>
        <p:nvSpPr>
          <p:cNvPr id="16" name="Shape 14"/>
          <p:cNvSpPr/>
          <p:nvPr/>
        </p:nvSpPr>
        <p:spPr>
          <a:xfrm>
            <a:off x="7111898" y="1869359"/>
            <a:ext cx="4267305" cy="3045213"/>
          </a:xfrm>
          <a:prstGeom prst="roundRect">
            <a:avLst>
              <a:gd name="adj" fmla="val 4170"/>
            </a:avLst>
          </a:prstGeom>
          <a:solidFill>
            <a:srgbClr val="E3F5F1"/>
          </a:solidFill>
          <a:ln/>
        </p:spPr>
        <p:txBody>
          <a:bodyPr/>
          <a:p/>
        </p:txBody>
      </p:sp>
      <p:sp>
        <p:nvSpPr>
          <p:cNvPr id="17" name="Text 15"/>
          <p:cNvSpPr/>
          <p:nvPr/>
        </p:nvSpPr>
        <p:spPr>
          <a:xfrm>
            <a:off x="7327739" y="2047118"/>
            <a:ext cx="39506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1F2E"/>
                </a:solidFill>
                <a:latin typeface="DM Sans" pitchFamily="34" charset="0"/>
                <a:ea typeface="DM Sans" pitchFamily="34" charset="-122"/>
                <a:cs typeface="DM Sans" pitchFamily="34" charset="-120"/>
              </a:rPr>
              <a:t>The “Ravi” case · 7 steps</a:t>
            </a:r>
            <a:endParaRPr lang="en-US" sz="1700" dirty="0"/>
          </a:p>
        </p:txBody>
      </p:sp>
      <p:sp>
        <p:nvSpPr>
          <p:cNvPr id="18" name="Text 16"/>
          <p:cNvSpPr/>
          <p:nvPr/>
        </p:nvSpPr>
        <p:spPr>
          <a:xfrm>
            <a:off x="7327739" y="2382341"/>
            <a:ext cx="3950692" cy="1892318"/>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1</a:t>
            </a:r>
            <a:r>
              <a:rPr lang="en-US" sz="1400" dirty="0">
                <a:solidFill>
                  <a:srgbClr val="0B1F2E"/>
                </a:solidFill>
                <a:latin typeface="DM Sans" pitchFamily="34" charset="0"/>
                <a:ea typeface="DM Sans" pitchFamily="34" charset="-122"/>
                <a:cs typeface="DM Sans" pitchFamily="34" charset="-120"/>
              </a:rPr>
              <a:t> Patient overview</a:t>
            </a:r>
            <a:endParaRPr lang="en-US" sz="1400" dirty="0"/>
          </a:p>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2</a:t>
            </a:r>
            <a:r>
              <a:rPr lang="en-US" sz="1400" dirty="0">
                <a:solidFill>
                  <a:srgbClr val="0B1F2E"/>
                </a:solidFill>
                <a:latin typeface="DM Sans" pitchFamily="34" charset="0"/>
                <a:ea typeface="DM Sans" pitchFamily="34" charset="-122"/>
                <a:cs typeface="DM Sans" pitchFamily="34" charset="-120"/>
              </a:rPr>
              <a:t> Dynamic data update</a:t>
            </a:r>
            <a:endParaRPr lang="en-US" sz="1400" dirty="0"/>
          </a:p>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3</a:t>
            </a:r>
            <a:r>
              <a:rPr lang="en-US" sz="1400" dirty="0">
                <a:solidFill>
                  <a:srgbClr val="0B1F2E"/>
                </a:solidFill>
                <a:latin typeface="DM Sans" pitchFamily="34" charset="0"/>
                <a:ea typeface="DM Sans" pitchFamily="34" charset="-122"/>
                <a:cs typeface="DM Sans" pitchFamily="34" charset="-120"/>
              </a:rPr>
              <a:t> Heat-wave scenario</a:t>
            </a:r>
            <a:endParaRPr lang="en-US" sz="1400" dirty="0"/>
          </a:p>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4</a:t>
            </a:r>
            <a:r>
              <a:rPr lang="en-US" sz="1400" dirty="0">
                <a:solidFill>
                  <a:srgbClr val="0B1F2E"/>
                </a:solidFill>
                <a:latin typeface="DM Sans" pitchFamily="34" charset="0"/>
                <a:ea typeface="DM Sans" pitchFamily="34" charset="-122"/>
                <a:cs typeface="DM Sans" pitchFamily="34" charset="-120"/>
              </a:rPr>
              <a:t> Digital twin update</a:t>
            </a:r>
            <a:endParaRPr lang="en-US" sz="1400" dirty="0"/>
          </a:p>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5</a:t>
            </a:r>
            <a:r>
              <a:rPr lang="en-US" sz="1400" dirty="0">
                <a:solidFill>
                  <a:srgbClr val="0B1F2E"/>
                </a:solidFill>
                <a:latin typeface="DM Sans" pitchFamily="34" charset="0"/>
                <a:ea typeface="DM Sans" pitchFamily="34" charset="-122"/>
                <a:cs typeface="DM Sans" pitchFamily="34" charset="-120"/>
              </a:rPr>
              <a:t> Risk flag</a:t>
            </a:r>
            <a:endParaRPr lang="en-US" sz="1400" dirty="0"/>
          </a:p>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6</a:t>
            </a:r>
            <a:r>
              <a:rPr lang="en-US" sz="1400" dirty="0">
                <a:solidFill>
                  <a:srgbClr val="0B1F2E"/>
                </a:solidFill>
                <a:latin typeface="DM Sans" pitchFamily="34" charset="0"/>
                <a:ea typeface="DM Sans" pitchFamily="34" charset="-122"/>
                <a:cs typeface="DM Sans" pitchFamily="34" charset="-120"/>
              </a:rPr>
              <a:t> What-if planner</a:t>
            </a:r>
            <a:endParaRPr lang="en-US" sz="1400" dirty="0"/>
          </a:p>
          <a:p>
            <a:pPr algn="l" indent="0" marL="0">
              <a:lnSpc>
                <a:spcPts val="2100"/>
              </a:lnSpc>
              <a:buNone/>
            </a:pPr>
            <a:r>
              <a:rPr lang="en-US" sz="1400" b="1" dirty="0">
                <a:solidFill>
                  <a:srgbClr val="0B1F2E"/>
                </a:solidFill>
                <a:latin typeface="DM Sans" pitchFamily="34" charset="0"/>
                <a:ea typeface="DM Sans" pitchFamily="34" charset="-122"/>
                <a:cs typeface="DM Sans" pitchFamily="34" charset="-120"/>
              </a:rPr>
              <a:t>7</a:t>
            </a:r>
            <a:r>
              <a:rPr lang="en-US" sz="1400" dirty="0">
                <a:solidFill>
                  <a:srgbClr val="0B1F2E"/>
                </a:solidFill>
                <a:latin typeface="DM Sans" pitchFamily="34" charset="0"/>
                <a:ea typeface="DM Sans" pitchFamily="34" charset="-122"/>
                <a:cs typeface="DM Sans" pitchFamily="34" charset="-120"/>
              </a:rPr>
              <a:t> Clinical review</a:t>
            </a:r>
            <a:endParaRPr lang="en-US" sz="1400" dirty="0"/>
          </a:p>
        </p:txBody>
      </p:sp>
      <p:sp>
        <p:nvSpPr>
          <p:cNvPr id="19" name="Text 17"/>
          <p:cNvSpPr/>
          <p:nvPr/>
        </p:nvSpPr>
        <p:spPr>
          <a:xfrm>
            <a:off x="7327739" y="4325423"/>
            <a:ext cx="3950692"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A68"/>
                </a:solidFill>
                <a:latin typeface="DM Sans" pitchFamily="34" charset="0"/>
                <a:ea typeface="DM Sans" pitchFamily="34" charset="-122"/>
                <a:cs typeface="DM Sans" pitchFamily="34" charset="-120"/>
              </a:rPr>
              <a:t>Simulated patient, not real clinical data. The 2.8 kg gain by day 3 is a demonstration input.</a:t>
            </a:r>
            <a:endParaRPr lang="en-US" sz="1200" dirty="0"/>
          </a:p>
        </p:txBody>
      </p:sp>
      <p:sp>
        <p:nvSpPr>
          <p:cNvPr id="20" name="Text 18"/>
          <p:cNvSpPr/>
          <p:nvPr/>
        </p:nvSpPr>
        <p:spPr>
          <a:xfrm>
            <a:off x="812759" y="6238258"/>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1" name="Text 19"/>
          <p:cNvSpPr/>
          <p:nvPr/>
        </p:nvSpPr>
        <p:spPr>
          <a:xfrm>
            <a:off x="10058403" y="6238258"/>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812759" y="812760"/>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66E"/>
                </a:solidFill>
                <a:latin typeface="DM Sans" pitchFamily="34" charset="0"/>
                <a:ea typeface="DM Sans" pitchFamily="34" charset="-122"/>
                <a:cs typeface="DM Sans" pitchFamily="34" charset="-120"/>
              </a:rPr>
              <a:t>💼 BUSINESS VALUE AND CLINIC ECONOMICS</a:t>
            </a:r>
            <a:endParaRPr lang="en-US" sz="1300" dirty="0"/>
          </a:p>
        </p:txBody>
      </p:sp>
      <p:sp>
        <p:nvSpPr>
          <p:cNvPr id="3" name="Text 1"/>
          <p:cNvSpPr/>
          <p:nvPr>
            <p:ph type="title"/>
          </p:nvPr>
        </p:nvSpPr>
        <p:spPr>
          <a:xfrm>
            <a:off x="812759" y="1234359"/>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2E"/>
                </a:solidFill>
                <a:latin typeface="DM Sans" pitchFamily="34" charset="0"/>
                <a:ea typeface="DM Sans" pitchFamily="34" charset="-122"/>
                <a:cs typeface="DM Sans" pitchFamily="34" charset="-120"/>
              </a:rPr>
              <a:t>Value, pricing and ROI for dialysis clinics</a:t>
            </a:r>
            <a:endParaRPr lang="en-US" sz="3000" dirty="0"/>
          </a:p>
        </p:txBody>
      </p:sp>
      <p:sp>
        <p:nvSpPr>
          <p:cNvPr id="4" name="Shape 2"/>
          <p:cNvSpPr/>
          <p:nvPr/>
        </p:nvSpPr>
        <p:spPr>
          <a:xfrm>
            <a:off x="819109" y="1850278"/>
            <a:ext cx="3399141" cy="3039256"/>
          </a:xfrm>
          <a:prstGeom prst="roundRect">
            <a:avLst>
              <a:gd name="adj" fmla="val 3970"/>
            </a:avLst>
          </a:prstGeom>
          <a:solidFill>
            <a:srgbClr val="FFFFFF"/>
          </a:solidFill>
          <a:ln w="12700">
            <a:solidFill>
              <a:srgbClr val="D3E0E4"/>
            </a:solidFill>
            <a:prstDash val="solid"/>
          </a:ln>
        </p:spPr>
        <p:txBody>
          <a:bodyPr/>
          <a:p/>
        </p:txBody>
      </p:sp>
      <p:sp>
        <p:nvSpPr>
          <p:cNvPr id="5" name="Text 3"/>
          <p:cNvSpPr/>
          <p:nvPr/>
        </p:nvSpPr>
        <p:spPr>
          <a:xfrm>
            <a:off x="1040930" y="2059446"/>
            <a:ext cx="3044164" cy="54352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1F2E"/>
                </a:solidFill>
                <a:latin typeface="DM Sans" pitchFamily="34" charset="0"/>
                <a:ea typeface="DM Sans" pitchFamily="34" charset="-122"/>
                <a:cs typeface="DM Sans" pitchFamily="34" charset="-120"/>
              </a:rPr>
              <a:t>🏥 Value for chains and hospitals</a:t>
            </a:r>
            <a:endParaRPr lang="en-US" sz="1700" dirty="0"/>
          </a:p>
        </p:txBody>
      </p:sp>
      <p:sp>
        <p:nvSpPr>
          <p:cNvPr id="6" name="Text 4"/>
          <p:cNvSpPr/>
          <p:nvPr/>
        </p:nvSpPr>
        <p:spPr>
          <a:xfrm>
            <a:off x="1132624" y="2653733"/>
            <a:ext cx="2944850" cy="1412151"/>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Fewer emergency intradialytic interventions</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Shorter nurse intervention times</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Fewer early session terminations</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Better patient retention and survival</a:t>
            </a:r>
            <a:endParaRPr lang="en-US" sz="1300" dirty="0"/>
          </a:p>
        </p:txBody>
      </p:sp>
      <p:sp>
        <p:nvSpPr>
          <p:cNvPr id="7" name="Text 5"/>
          <p:cNvSpPr/>
          <p:nvPr/>
        </p:nvSpPr>
        <p:spPr>
          <a:xfrm>
            <a:off x="1040930" y="4116645"/>
            <a:ext cx="2955499" cy="563717"/>
          </a:xfrm>
          <a:prstGeom prst="roundRect">
            <a:avLst>
              <a:gd name="adj" fmla="val 13517"/>
            </a:avLst>
          </a:prstGeom>
          <a:solidFill>
            <a:srgbClr val="FDF0D5"/>
          </a:solidFill>
          <a:ln/>
        </p:spPr>
        <p:txBody>
          <a:bodyPr wrap="square" lIns="91982" tIns="53882" rIns="10175" bIns="28482" rtlCol="0" anchor="t">
            <a:normAutofit/>
          </a:bodyPr>
          <a:lstStyle/>
          <a:p>
            <a:pPr algn="l" indent="0" marL="0">
              <a:lnSpc>
                <a:spcPts val="1620"/>
              </a:lnSpc>
              <a:buNone/>
            </a:pPr>
            <a:r>
              <a:rPr lang="en-US" sz="1200" dirty="0">
                <a:solidFill>
                  <a:srgbClr val="0B1F2E"/>
                </a:solidFill>
                <a:latin typeface="DM Sans" pitchFamily="34" charset="0"/>
                <a:ea typeface="DM Sans" pitchFamily="34" charset="-122"/>
                <a:cs typeface="DM Sans" pitchFamily="34" charset="-120"/>
              </a:rPr>
              <a:t>Targets for the prospective study, not yet demonstrated.</a:t>
            </a:r>
            <a:endParaRPr lang="en-US" sz="1200" dirty="0"/>
          </a:p>
        </p:txBody>
      </p:sp>
      <p:sp>
        <p:nvSpPr>
          <p:cNvPr id="8" name="Shape 6"/>
          <p:cNvSpPr/>
          <p:nvPr/>
        </p:nvSpPr>
        <p:spPr>
          <a:xfrm>
            <a:off x="4408709" y="1850278"/>
            <a:ext cx="3399205" cy="3039256"/>
          </a:xfrm>
          <a:prstGeom prst="roundRect">
            <a:avLst>
              <a:gd name="adj" fmla="val 3970"/>
            </a:avLst>
          </a:prstGeom>
          <a:solidFill>
            <a:srgbClr val="FFFFFF"/>
          </a:solidFill>
          <a:ln w="12700">
            <a:solidFill>
              <a:srgbClr val="D3E0E4"/>
            </a:solidFill>
            <a:prstDash val="solid"/>
          </a:ln>
        </p:spPr>
        <p:txBody>
          <a:bodyPr/>
          <a:p/>
        </p:txBody>
      </p:sp>
      <p:sp>
        <p:nvSpPr>
          <p:cNvPr id="9" name="Text 7"/>
          <p:cNvSpPr/>
          <p:nvPr/>
        </p:nvSpPr>
        <p:spPr>
          <a:xfrm>
            <a:off x="4630530" y="2059446"/>
            <a:ext cx="30442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1F2E"/>
                </a:solidFill>
                <a:latin typeface="DM Sans" pitchFamily="34" charset="0"/>
                <a:ea typeface="DM Sans" pitchFamily="34" charset="-122"/>
                <a:cs typeface="DM Sans" pitchFamily="34" charset="-120"/>
              </a:rPr>
              <a:t>💼 Pricing model</a:t>
            </a:r>
            <a:endParaRPr lang="en-US" sz="1700" dirty="0"/>
          </a:p>
        </p:txBody>
      </p:sp>
      <p:sp>
        <p:nvSpPr>
          <p:cNvPr id="10" name="Text 8"/>
          <p:cNvSpPr/>
          <p:nvPr/>
        </p:nvSpPr>
        <p:spPr>
          <a:xfrm>
            <a:off x="4630530" y="2394672"/>
            <a:ext cx="3044230" cy="71877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1F2E"/>
                </a:solidFill>
                <a:latin typeface="DM Sans" pitchFamily="34" charset="0"/>
                <a:ea typeface="DM Sans" pitchFamily="34" charset="-122"/>
                <a:cs typeface="DM Sans" pitchFamily="34" charset="-120"/>
              </a:rPr>
              <a:t>PPPM licence.</a:t>
            </a:r>
            <a:r>
              <a:rPr lang="en-US" sz="1300" dirty="0">
                <a:solidFill>
                  <a:srgbClr val="0B1F2E"/>
                </a:solidFill>
                <a:latin typeface="DM Sans" pitchFamily="34" charset="0"/>
                <a:ea typeface="DM Sans" pitchFamily="34" charset="-122"/>
                <a:cs typeface="DM Sans" pitchFamily="34" charset="-120"/>
              </a:rPr>
              <a:t> Per-patient-per-month software fee for outpatient dialysis centers: </a:t>
            </a:r>
            <a:r>
              <a:rPr lang="en-US" sz="1300" b="1" dirty="0">
                <a:solidFill>
                  <a:srgbClr val="0F766E"/>
                </a:solidFill>
                <a:latin typeface="DM Sans" pitchFamily="34" charset="0"/>
                <a:ea typeface="DM Sans" pitchFamily="34" charset="-122"/>
                <a:cs typeface="DM Sans" pitchFamily="34" charset="-120"/>
              </a:rPr>
              <a:t>$25 PPPM (US/EU); India tier about $10</a:t>
            </a:r>
            <a:endParaRPr lang="en-US" sz="1300" dirty="0"/>
          </a:p>
        </p:txBody>
      </p:sp>
      <p:sp>
        <p:nvSpPr>
          <p:cNvPr id="11" name="Text 9"/>
          <p:cNvSpPr/>
          <p:nvPr/>
        </p:nvSpPr>
        <p:spPr>
          <a:xfrm>
            <a:off x="4630530" y="3164210"/>
            <a:ext cx="3044230" cy="71877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1F2E"/>
                </a:solidFill>
                <a:latin typeface="DM Sans" pitchFamily="34" charset="0"/>
                <a:ea typeface="DM Sans" pitchFamily="34" charset="-122"/>
                <a:cs typeface="DM Sans" pitchFamily="34" charset="-120"/>
              </a:rPr>
              <a:t>EHR integration fee.</a:t>
            </a:r>
            <a:r>
              <a:rPr lang="en-US" sz="1300" dirty="0">
                <a:solidFill>
                  <a:srgbClr val="0B1F2E"/>
                </a:solidFill>
                <a:latin typeface="DM Sans" pitchFamily="34" charset="0"/>
                <a:ea typeface="DM Sans" pitchFamily="34" charset="-122"/>
                <a:cs typeface="DM Sans" pitchFamily="34" charset="-120"/>
              </a:rPr>
              <a:t> Enterprise fee per site for Epic or Cerner connections: </a:t>
            </a:r>
            <a:r>
              <a:rPr lang="en-US" sz="1300" b="1" dirty="0">
                <a:solidFill>
                  <a:srgbClr val="0F766E"/>
                </a:solidFill>
                <a:latin typeface="DM Sans" pitchFamily="34" charset="0"/>
                <a:ea typeface="DM Sans" pitchFamily="34" charset="-122"/>
                <a:cs typeface="DM Sans" pitchFamily="34" charset="-120"/>
              </a:rPr>
              <a:t>$10,000 one-time per site</a:t>
            </a:r>
            <a:endParaRPr lang="en-US" sz="1300" dirty="0"/>
          </a:p>
        </p:txBody>
      </p:sp>
      <p:sp>
        <p:nvSpPr>
          <p:cNvPr id="12" name="Text 10"/>
          <p:cNvSpPr/>
          <p:nvPr/>
        </p:nvSpPr>
        <p:spPr>
          <a:xfrm>
            <a:off x="4630530" y="3933751"/>
            <a:ext cx="3044230" cy="64248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A68"/>
                </a:solidFill>
                <a:latin typeface="DM Sans" pitchFamily="34" charset="0"/>
                <a:ea typeface="DM Sans" pitchFamily="34" charset="-122"/>
                <a:cs typeface="DM Sans" pitchFamily="34" charset="-120"/>
              </a:rPr>
              <a:t>Priced against avoided events: cost per acute event prevented, and per avoided emergency admission.</a:t>
            </a:r>
            <a:endParaRPr lang="en-US" sz="1200" dirty="0"/>
          </a:p>
        </p:txBody>
      </p:sp>
      <p:sp>
        <p:nvSpPr>
          <p:cNvPr id="13" name="Shape 11"/>
          <p:cNvSpPr/>
          <p:nvPr/>
        </p:nvSpPr>
        <p:spPr>
          <a:xfrm>
            <a:off x="7992022" y="1843928"/>
            <a:ext cx="3387180" cy="3051956"/>
          </a:xfrm>
          <a:prstGeom prst="roundRect">
            <a:avLst>
              <a:gd name="adj" fmla="val 4161"/>
            </a:avLst>
          </a:prstGeom>
          <a:solidFill>
            <a:srgbClr val="0B1F2E"/>
          </a:solidFill>
          <a:ln/>
        </p:spPr>
        <p:txBody>
          <a:bodyPr/>
          <a:p/>
        </p:txBody>
      </p:sp>
      <p:sp>
        <p:nvSpPr>
          <p:cNvPr id="14" name="Text 12"/>
          <p:cNvSpPr/>
          <p:nvPr/>
        </p:nvSpPr>
        <p:spPr>
          <a:xfrm>
            <a:off x="8207863" y="2047115"/>
            <a:ext cx="304416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D4BF"/>
                </a:solidFill>
                <a:latin typeface="DM Sans" pitchFamily="34" charset="0"/>
                <a:ea typeface="DM Sans" pitchFamily="34" charset="-122"/>
                <a:cs typeface="DM Sans" pitchFamily="34" charset="-120"/>
              </a:rPr>
              <a:t>💵 ROI per clinic, per year</a:t>
            </a:r>
            <a:endParaRPr lang="en-US" sz="1700" dirty="0"/>
          </a:p>
        </p:txBody>
      </p:sp>
      <p:sp>
        <p:nvSpPr>
          <p:cNvPr id="15" name="Text 13"/>
          <p:cNvSpPr/>
          <p:nvPr/>
        </p:nvSpPr>
        <p:spPr>
          <a:xfrm>
            <a:off x="8207863" y="2382341"/>
            <a:ext cx="3044164" cy="118102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a:t>
            </a:r>
            <a:r>
              <a:rPr lang="en-US" sz="1300" dirty="0">
                <a:solidFill>
                  <a:srgbClr val="EAF3F6"/>
                </a:solidFill>
                <a:latin typeface="DM Sans" pitchFamily="34" charset="0"/>
                <a:ea typeface="DM Sans" pitchFamily="34" charset="-122"/>
                <a:cs typeface="DM Sans" pitchFamily="34" charset="-120"/>
              </a:rPr>
              <a:t> Avoided acute events × </a:t>
            </a:r>
            <a:r>
              <a:rPr lang="en-US" sz="1300" dirty="0">
                <a:solidFill>
                  <a:srgbClr val="F5B83D"/>
                </a:solidFill>
                <a:latin typeface="DM Sans" pitchFamily="34" charset="0"/>
                <a:ea typeface="DM Sans" pitchFamily="34" charset="-122"/>
                <a:cs typeface="DM Sans" pitchFamily="34" charset="-120"/>
              </a:rPr>
              <a:t>$100</a:t>
            </a:r>
            <a:endParaRPr lang="en-US" sz="1300" dirty="0"/>
          </a:p>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a:t>
            </a:r>
            <a:r>
              <a:rPr lang="en-US" sz="1300" dirty="0">
                <a:solidFill>
                  <a:srgbClr val="EAF3F6"/>
                </a:solidFill>
                <a:latin typeface="DM Sans" pitchFamily="34" charset="0"/>
                <a:ea typeface="DM Sans" pitchFamily="34" charset="-122"/>
                <a:cs typeface="DM Sans" pitchFamily="34" charset="-120"/>
              </a:rPr>
              <a:t> Avoided hospitalizations × </a:t>
            </a:r>
            <a:r>
              <a:rPr lang="en-US" sz="1300" dirty="0">
                <a:solidFill>
                  <a:srgbClr val="F5B83D"/>
                </a:solidFill>
                <a:latin typeface="DM Sans" pitchFamily="34" charset="0"/>
                <a:ea typeface="DM Sans" pitchFamily="34" charset="-122"/>
                <a:cs typeface="DM Sans" pitchFamily="34" charset="-120"/>
              </a:rPr>
              <a:t>$4,000</a:t>
            </a:r>
            <a:endParaRPr lang="en-US" sz="1300" dirty="0"/>
          </a:p>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a:t>
            </a:r>
            <a:r>
              <a:rPr lang="en-US" sz="1300" dirty="0">
                <a:solidFill>
                  <a:srgbClr val="EAF3F6"/>
                </a:solidFill>
                <a:latin typeface="DM Sans" pitchFamily="34" charset="0"/>
                <a:ea typeface="DM Sans" pitchFamily="34" charset="-122"/>
                <a:cs typeface="DM Sans" pitchFamily="34" charset="-120"/>
              </a:rPr>
              <a:t> Nurse time saved × </a:t>
            </a:r>
            <a:r>
              <a:rPr lang="en-US" sz="1300" dirty="0">
                <a:solidFill>
                  <a:srgbClr val="F5B83D"/>
                </a:solidFill>
                <a:latin typeface="DM Sans" pitchFamily="34" charset="0"/>
                <a:ea typeface="DM Sans" pitchFamily="34" charset="-122"/>
                <a:cs typeface="DM Sans" pitchFamily="34" charset="-120"/>
              </a:rPr>
              <a:t>$25</a:t>
            </a:r>
            <a:endParaRPr lang="en-US" sz="1300" dirty="0"/>
          </a:p>
          <a:p>
            <a:pPr algn="l" indent="0" marL="0">
              <a:lnSpc>
                <a:spcPts val="1820"/>
              </a:lnSpc>
              <a:buNone/>
            </a:pPr>
            <a:r>
              <a:rPr lang="en-US" sz="1300" b="1" dirty="0">
                <a:solidFill>
                  <a:srgbClr val="EAF3F6"/>
                </a:solidFill>
                <a:latin typeface="DM Sans" pitchFamily="34" charset="0"/>
                <a:ea typeface="DM Sans" pitchFamily="34" charset="-122"/>
                <a:cs typeface="DM Sans" pitchFamily="34" charset="-120"/>
              </a:rPr>
              <a:t>−</a:t>
            </a:r>
            <a:r>
              <a:rPr lang="en-US" sz="1300" dirty="0">
                <a:solidFill>
                  <a:srgbClr val="EAF3F6"/>
                </a:solidFill>
                <a:latin typeface="DM Sans" pitchFamily="34" charset="0"/>
                <a:ea typeface="DM Sans" pitchFamily="34" charset="-122"/>
                <a:cs typeface="DM Sans" pitchFamily="34" charset="-120"/>
              </a:rPr>
              <a:t> Licence: patients × 12 × PPPM</a:t>
            </a:r>
            <a:endParaRPr lang="en-US" sz="1300" dirty="0"/>
          </a:p>
        </p:txBody>
      </p:sp>
      <p:sp>
        <p:nvSpPr>
          <p:cNvPr id="16" name="Text 14"/>
          <p:cNvSpPr/>
          <p:nvPr/>
        </p:nvSpPr>
        <p:spPr>
          <a:xfrm>
            <a:off x="8207863" y="3614130"/>
            <a:ext cx="3044164"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C3D0"/>
                </a:solidFill>
                <a:latin typeface="DM Sans" pitchFamily="34" charset="0"/>
                <a:ea typeface="DM Sans" pitchFamily="34" charset="-122"/>
                <a:cs typeface="DM Sans" pitchFamily="34" charset="-120"/>
              </a:rPr>
              <a:t>Planning assumptions, not results. No savings are claimed until the Phase 1 study.</a:t>
            </a:r>
            <a:endParaRPr lang="en-US" sz="1200" dirty="0"/>
          </a:p>
        </p:txBody>
      </p:sp>
      <p:sp>
        <p:nvSpPr>
          <p:cNvPr id="17" name="Text 15"/>
          <p:cNvSpPr/>
          <p:nvPr/>
        </p:nvSpPr>
        <p:spPr>
          <a:xfrm>
            <a:off x="812759" y="6238258"/>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18" name="Text 16"/>
          <p:cNvSpPr/>
          <p:nvPr/>
        </p:nvSpPr>
        <p:spPr>
          <a:xfrm>
            <a:off x="10058403" y="6238258"/>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5A68"/>
                </a:solidFill>
                <a:latin typeface="DM Sans" pitchFamily="34" charset="0"/>
                <a:ea typeface="DM Sans" pitchFamily="34" charset="-122"/>
                <a:cs typeface="DM Sans" pitchFamily="34" charset="-120"/>
              </a:rPr>
              <a:t>9 / 14</a:t>
            </a:r>
            <a:endParaRPr lang="en-US" sz="1200" dirty="0"/>
          </a:p>
        </p:txBody>
      </p:sp>
      <p:sp>
        <p:nvSpPr>
          <p:cNvPr id="19" name="TextBox 18"/>
          <p:cNvSpPr txBox="1"/>
          <p:nvPr/>
        </p:nvSpPr>
        <p:spPr>
          <a:xfrm>
            <a:off x="822960" y="5029200"/>
            <a:ext cx="10552176" cy="1005840"/>
          </a:xfrm>
          <a:prstGeom prst="rect">
            <a:avLst/>
          </a:prstGeom>
          <a:noFill/>
        </p:spPr>
        <p:txBody>
          <a:bodyPr wrap="square" lIns="0" rIns="0" tIns="0" bIns="0">
            <a:spAutoFit/>
          </a:bodyPr>
          <a:lstStyle/>
          <a:p>
            <a:r>
              <a:rPr sz="1100" b="1">
                <a:solidFill>
                  <a:srgbClr val="0F8B8D"/>
                </a:solidFill>
                <a:latin typeface="DM Sans"/>
              </a:rPr>
              <a:t>Worked example (illustrative planning model): </a:t>
            </a:r>
            <a:r>
              <a:rPr sz="1100">
                <a:solidFill>
                  <a:srgbClr val="16324F"/>
                </a:solidFill>
                <a:latin typeface="DM Sans"/>
              </a:rPr>
              <a:t>100-patient centre, 15,600 sessions a year, 10% needing an acute intervention, 15% target reduction = 234 events avoided. Benefit about $39.8K (events $23.4K + nurse time $4.4K + 3 avoided emergency admissions $12.0K) against a $30.0K licence: net about +$9.8K, benefit-to-cost 1.3x. Cost per acute event prevented (licence ÷ events) is about $128; each avoided emergency admission is valued at $4,000. Break-even needs roughly 10% fewer interventions. All inputs get replaced by Phase 1 measurements.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2E"/>
        </a:solidFill>
      </p:bgPr>
    </p:bg>
    <p:spTree>
      <p:nvGrpSpPr>
        <p:cNvPr id="1" name=""/>
        <p:cNvGrpSpPr/>
        <p:nvPr/>
      </p:nvGrpSpPr>
      <p:grpSpPr>
        <a:xfrm>
          <a:off x="0" y="0"/>
          <a:ext cx="0" cy="0"/>
          <a:chOff x="0" y="0"/>
          <a:chExt cx="0" cy="0"/>
        </a:xfrm>
      </p:grpSpPr>
      <p:sp>
        <p:nvSpPr>
          <p:cNvPr id="2" name="Text 0"/>
          <p:cNvSpPr/>
          <p:nvPr/>
        </p:nvSpPr>
        <p:spPr>
          <a:xfrm>
            <a:off x="812759" y="812763"/>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 MARKET OPPORTUNITY</a:t>
            </a:r>
            <a:endParaRPr lang="en-US" sz="1300" dirty="0"/>
          </a:p>
        </p:txBody>
      </p:sp>
      <p:sp>
        <p:nvSpPr>
          <p:cNvPr id="3" name="Text 1"/>
          <p:cNvSpPr/>
          <p:nvPr>
            <p:ph type="title"/>
          </p:nvPr>
        </p:nvSpPr>
        <p:spPr>
          <a:xfrm>
            <a:off x="812759" y="1234362"/>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EAF3F6"/>
                </a:solidFill>
                <a:latin typeface="DM Sans" pitchFamily="34" charset="0"/>
                <a:ea typeface="DM Sans" pitchFamily="34" charset="-122"/>
                <a:cs typeface="DM Sans" pitchFamily="34" charset="-120"/>
              </a:rPr>
              <a:t>From a $95B+ market to a focused first wedge</a:t>
            </a:r>
            <a:endParaRPr lang="en-US" sz="3000" dirty="0"/>
          </a:p>
        </p:txBody>
      </p:sp>
      <p:sp>
        <p:nvSpPr>
          <p:cNvPr id="4" name="Shape 2"/>
          <p:cNvSpPr/>
          <p:nvPr/>
        </p:nvSpPr>
        <p:spPr>
          <a:xfrm>
            <a:off x="822284" y="1853456"/>
            <a:ext cx="3790950" cy="3790950"/>
          </a:xfrm>
          <a:prstGeom prst="roundRect">
            <a:avLst>
              <a:gd name="adj" fmla="val 42630"/>
            </a:avLst>
          </a:prstGeom>
          <a:solidFill>
            <a:srgbClr val="12304A"/>
          </a:solidFill>
          <a:ln w="19050">
            <a:solidFill>
              <a:srgbClr val="234E70"/>
            </a:solidFill>
            <a:prstDash val="solid"/>
          </a:ln>
        </p:spPr>
        <p:txBody>
          <a:bodyPr/>
          <a:p/>
        </p:txBody>
      </p:sp>
      <p:sp>
        <p:nvSpPr>
          <p:cNvPr id="5" name="Shape 3"/>
          <p:cNvSpPr/>
          <p:nvPr/>
        </p:nvSpPr>
        <p:spPr>
          <a:xfrm>
            <a:off x="1457284" y="3123456"/>
            <a:ext cx="2520950" cy="2520950"/>
          </a:xfrm>
          <a:prstGeom prst="roundRect">
            <a:avLst>
              <a:gd name="adj" fmla="val 50000"/>
            </a:avLst>
          </a:prstGeom>
          <a:solidFill>
            <a:srgbClr val="0F766E"/>
          </a:solidFill>
          <a:ln w="19050">
            <a:solidFill>
              <a:srgbClr val="2DD4BF"/>
            </a:solidFill>
            <a:prstDash val="solid"/>
          </a:ln>
        </p:spPr>
        <p:txBody>
          <a:bodyPr/>
          <a:p/>
        </p:txBody>
      </p:sp>
      <p:sp>
        <p:nvSpPr>
          <p:cNvPr id="6" name="Shape 4"/>
          <p:cNvSpPr/>
          <p:nvPr/>
        </p:nvSpPr>
        <p:spPr>
          <a:xfrm>
            <a:off x="1955733" y="4129875"/>
            <a:ext cx="1523987" cy="1523987"/>
          </a:xfrm>
          <a:prstGeom prst="roundRect">
            <a:avLst>
              <a:gd name="adj" fmla="val 50000"/>
            </a:avLst>
          </a:prstGeom>
          <a:solidFill>
            <a:srgbClr val="F5B83D"/>
          </a:solidFill>
          <a:ln/>
        </p:spPr>
        <p:txBody>
          <a:bodyPr/>
          <a:p/>
        </p:txBody>
      </p:sp>
      <p:sp>
        <p:nvSpPr>
          <p:cNvPr id="7" name="Text 5"/>
          <p:cNvSpPr/>
          <p:nvPr/>
        </p:nvSpPr>
        <p:spPr>
          <a:xfrm>
            <a:off x="1736684" y="2161431"/>
            <a:ext cx="1962150" cy="256525"/>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2DD4BF"/>
                </a:solidFill>
                <a:latin typeface="DM Sans" pitchFamily="34" charset="0"/>
                <a:ea typeface="DM Sans" pitchFamily="34" charset="-122"/>
                <a:cs typeface="DM Sans" pitchFamily="34" charset="-120"/>
              </a:rPr>
              <a:t>TAM</a:t>
            </a:r>
            <a:endParaRPr lang="en-US" sz="1300" dirty="0"/>
          </a:p>
        </p:txBody>
      </p:sp>
      <p:sp>
        <p:nvSpPr>
          <p:cNvPr id="8" name="Text 6"/>
          <p:cNvSpPr/>
          <p:nvPr/>
        </p:nvSpPr>
        <p:spPr>
          <a:xfrm>
            <a:off x="1736684" y="2428069"/>
            <a:ext cx="1962150" cy="558805"/>
          </a:xfrm>
          <a:prstGeom prst="rect">
            <a:avLst/>
          </a:prstGeom>
          <a:noFill/>
          <a:ln/>
        </p:spPr>
        <p:txBody>
          <a:bodyPr wrap="square" lIns="0" tIns="0" rIns="0" bIns="0" rtlCol="0" anchor="t">
            <a:normAutofit/>
          </a:bodyPr>
          <a:lstStyle/>
          <a:p>
            <a:pPr algn="ctr" indent="0" marL="0">
              <a:lnSpc>
                <a:spcPts val="4200"/>
              </a:lnSpc>
              <a:buNone/>
            </a:pPr>
            <a:r>
              <a:rPr lang="en-US" sz="3000" b="1" dirty="0">
                <a:solidFill>
                  <a:srgbClr val="EAF3F6"/>
                </a:solidFill>
                <a:latin typeface="DM Sans" pitchFamily="34" charset="0"/>
                <a:ea typeface="DM Sans" pitchFamily="34" charset="-122"/>
                <a:cs typeface="DM Sans" pitchFamily="34" charset="-120"/>
              </a:rPr>
              <a:t>$95B+</a:t>
            </a:r>
            <a:endParaRPr lang="en-US" sz="3000" dirty="0"/>
          </a:p>
        </p:txBody>
      </p:sp>
      <p:sp>
        <p:nvSpPr>
          <p:cNvPr id="9" name="Text 7"/>
          <p:cNvSpPr/>
          <p:nvPr/>
        </p:nvSpPr>
        <p:spPr>
          <a:xfrm>
            <a:off x="1736684" y="3367918"/>
            <a:ext cx="1962150" cy="256525"/>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AF3F6"/>
                </a:solidFill>
                <a:latin typeface="DM Sans" pitchFamily="34" charset="0"/>
                <a:ea typeface="DM Sans" pitchFamily="34" charset="-122"/>
                <a:cs typeface="DM Sans" pitchFamily="34" charset="-120"/>
              </a:rPr>
              <a:t>SAM</a:t>
            </a:r>
            <a:endParaRPr lang="en-US" sz="1300" dirty="0"/>
          </a:p>
        </p:txBody>
      </p:sp>
      <p:sp>
        <p:nvSpPr>
          <p:cNvPr id="10" name="Text 8"/>
          <p:cNvSpPr/>
          <p:nvPr/>
        </p:nvSpPr>
        <p:spPr>
          <a:xfrm>
            <a:off x="1736684" y="3634618"/>
            <a:ext cx="1962150" cy="487650"/>
          </a:xfrm>
          <a:prstGeom prst="rect">
            <a:avLst/>
          </a:prstGeom>
          <a:noFill/>
          <a:ln/>
        </p:spPr>
        <p:txBody>
          <a:bodyPr wrap="square" lIns="0" tIns="0" rIns="0" bIns="0" rtlCol="0" anchor="t">
            <a:normAutofit/>
          </a:bodyPr>
          <a:lstStyle/>
          <a:p>
            <a:pPr algn="ctr" indent="0" marL="0">
              <a:lnSpc>
                <a:spcPts val="3640"/>
              </a:lnSpc>
              <a:buNone/>
            </a:pPr>
            <a:r>
              <a:rPr lang="en-US" sz="2600" b="1" dirty="0">
                <a:solidFill>
                  <a:srgbClr val="EAF3F6"/>
                </a:solidFill>
                <a:latin typeface="DM Sans" pitchFamily="34" charset="0"/>
                <a:ea typeface="DM Sans" pitchFamily="34" charset="-122"/>
                <a:cs typeface="DM Sans" pitchFamily="34" charset="-120"/>
              </a:rPr>
              <a:t>~$3.2B</a:t>
            </a:r>
            <a:endParaRPr lang="en-US" sz="2600" dirty="0"/>
          </a:p>
        </p:txBody>
      </p:sp>
      <p:sp>
        <p:nvSpPr>
          <p:cNvPr id="11" name="Text 9"/>
          <p:cNvSpPr/>
          <p:nvPr/>
        </p:nvSpPr>
        <p:spPr>
          <a:xfrm>
            <a:off x="1930333" y="4523606"/>
            <a:ext cx="1574787" cy="256525"/>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B1F2E"/>
                </a:solidFill>
                <a:latin typeface="DM Sans" pitchFamily="34" charset="0"/>
                <a:ea typeface="DM Sans" pitchFamily="34" charset="-122"/>
                <a:cs typeface="DM Sans" pitchFamily="34" charset="-120"/>
              </a:rPr>
              <a:t>SOM</a:t>
            </a:r>
            <a:endParaRPr lang="en-US" sz="1300" dirty="0"/>
          </a:p>
        </p:txBody>
      </p:sp>
      <p:sp>
        <p:nvSpPr>
          <p:cNvPr id="12" name="Text 10"/>
          <p:cNvSpPr/>
          <p:nvPr/>
        </p:nvSpPr>
        <p:spPr>
          <a:xfrm>
            <a:off x="1930333" y="4764875"/>
            <a:ext cx="1574787" cy="452073"/>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0B1F2E"/>
                </a:solidFill>
                <a:latin typeface="DM Sans" pitchFamily="34" charset="0"/>
                <a:ea typeface="DM Sans" pitchFamily="34" charset="-122"/>
                <a:cs typeface="DM Sans" pitchFamily="34" charset="-120"/>
              </a:rPr>
              <a:t>~$120M</a:t>
            </a:r>
            <a:endParaRPr lang="en-US" sz="2400" dirty="0"/>
          </a:p>
        </p:txBody>
      </p:sp>
      <p:sp>
        <p:nvSpPr>
          <p:cNvPr id="13" name="Shape 11"/>
          <p:cNvSpPr/>
          <p:nvPr/>
        </p:nvSpPr>
        <p:spPr>
          <a:xfrm>
            <a:off x="5079936" y="1994012"/>
            <a:ext cx="6299267" cy="1038746"/>
          </a:xfrm>
          <a:prstGeom prst="roundRect">
            <a:avLst>
              <a:gd name="adj" fmla="val 7336"/>
            </a:avLst>
          </a:prstGeom>
          <a:solidFill>
            <a:srgbClr val="12304A"/>
          </a:solidFill>
          <a:ln/>
        </p:spPr>
        <p:txBody>
          <a:bodyPr/>
          <a:p/>
        </p:txBody>
      </p:sp>
      <p:sp>
        <p:nvSpPr>
          <p:cNvPr id="14" name="Shape 12"/>
          <p:cNvSpPr/>
          <p:nvPr/>
        </p:nvSpPr>
        <p:spPr>
          <a:xfrm>
            <a:off x="5079936" y="1994012"/>
            <a:ext cx="6299267" cy="1038746"/>
          </a:xfrm>
          <a:custGeom>
            <a:avLst/>
            <a:gdLst/>
            <a:ahLst/>
            <a:cxnLst/>
            <a:rect l="l" t="t" r="r" b="b"/>
            <a:pathLst>
              <a:path w="6299267" h="1038746">
                <a:moveTo>
                  <a:pt x="76200" y="1038746"/>
                </a:moveTo>
                <a:lnTo>
                  <a:pt x="76200" y="1038746"/>
                </a:lnTo>
                <a:arcTo hR="76200" wR="76200" stAng="5400000" swAng="5400000"/>
                <a:lnTo>
                  <a:pt x="0" y="76200"/>
                </a:lnTo>
                <a:arcTo hR="76200" wR="76200" stAng="10800000" swAng="5400000"/>
                <a:lnTo>
                  <a:pt x="76200" y="0"/>
                </a:lnTo>
                <a:arcTo hR="76200" wR="25400" stAng="16200000" swAng="-5400000"/>
                <a:lnTo>
                  <a:pt x="50800" y="962546"/>
                </a:lnTo>
                <a:arcTo hR="76200" wR="25400" stAng="10800000" swAng="-5400000"/>
                <a:close/>
              </a:path>
            </a:pathLst>
          </a:custGeom>
          <a:solidFill>
            <a:srgbClr val="2DD4BF"/>
          </a:solidFill>
          <a:ln/>
        </p:spPr>
        <p:txBody>
          <a:bodyPr/>
          <a:p/>
        </p:txBody>
      </p:sp>
      <p:sp>
        <p:nvSpPr>
          <p:cNvPr id="15" name="Text 13"/>
          <p:cNvSpPr/>
          <p:nvPr/>
        </p:nvSpPr>
        <p:spPr>
          <a:xfrm>
            <a:off x="5319731" y="2133687"/>
            <a:ext cx="60450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AF3F6"/>
                </a:solidFill>
                <a:latin typeface="DM Sans" pitchFamily="34" charset="0"/>
                <a:ea typeface="DM Sans" pitchFamily="34" charset="-122"/>
                <a:cs typeface="DM Sans" pitchFamily="34" charset="-120"/>
              </a:rPr>
              <a:t>TAM · Global dialysis</a:t>
            </a:r>
            <a:endParaRPr lang="en-US" sz="1700" dirty="0"/>
          </a:p>
        </p:txBody>
      </p:sp>
      <p:sp>
        <p:nvSpPr>
          <p:cNvPr id="16" name="Text 14"/>
          <p:cNvSpPr/>
          <p:nvPr/>
        </p:nvSpPr>
        <p:spPr>
          <a:xfrm>
            <a:off x="5319731" y="2430828"/>
            <a:ext cx="6045068" cy="4876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5"/>
                </a:solidFill>
                <a:latin typeface="DM Sans" pitchFamily="34" charset="0"/>
                <a:ea typeface="DM Sans" pitchFamily="34" charset="-122"/>
                <a:cs typeface="DM Sans" pitchFamily="34" charset="-120"/>
              </a:rPr>
              <a:t>About $95B+ global dialysis market serving 3.8M+ end-stage renal disease patients worldwide.</a:t>
            </a:r>
            <a:endParaRPr lang="en-US" sz="1300" dirty="0"/>
          </a:p>
        </p:txBody>
      </p:sp>
      <p:sp>
        <p:nvSpPr>
          <p:cNvPr id="17" name="Shape 15"/>
          <p:cNvSpPr/>
          <p:nvPr/>
        </p:nvSpPr>
        <p:spPr>
          <a:xfrm>
            <a:off x="5079936" y="3172433"/>
            <a:ext cx="6299267" cy="1038746"/>
          </a:xfrm>
          <a:prstGeom prst="roundRect">
            <a:avLst>
              <a:gd name="adj" fmla="val 7336"/>
            </a:avLst>
          </a:prstGeom>
          <a:solidFill>
            <a:srgbClr val="12304A"/>
          </a:solidFill>
          <a:ln/>
        </p:spPr>
        <p:txBody>
          <a:bodyPr/>
          <a:p/>
        </p:txBody>
      </p:sp>
      <p:sp>
        <p:nvSpPr>
          <p:cNvPr id="18" name="Shape 16"/>
          <p:cNvSpPr/>
          <p:nvPr/>
        </p:nvSpPr>
        <p:spPr>
          <a:xfrm>
            <a:off x="5079936" y="3172433"/>
            <a:ext cx="6299267" cy="1038746"/>
          </a:xfrm>
          <a:custGeom>
            <a:avLst/>
            <a:gdLst/>
            <a:ahLst/>
            <a:cxnLst/>
            <a:rect l="l" t="t" r="r" b="b"/>
            <a:pathLst>
              <a:path w="6299267" h="1038746">
                <a:moveTo>
                  <a:pt x="76200" y="1038746"/>
                </a:moveTo>
                <a:lnTo>
                  <a:pt x="76200" y="1038746"/>
                </a:lnTo>
                <a:arcTo hR="76200" wR="76200" stAng="5400000" swAng="5400000"/>
                <a:lnTo>
                  <a:pt x="0" y="76200"/>
                </a:lnTo>
                <a:arcTo hR="76200" wR="76200" stAng="10800000" swAng="5400000"/>
                <a:lnTo>
                  <a:pt x="76200" y="0"/>
                </a:lnTo>
                <a:arcTo hR="76200" wR="25400" stAng="16200000" swAng="-5400000"/>
                <a:lnTo>
                  <a:pt x="50800" y="962546"/>
                </a:lnTo>
                <a:arcTo hR="76200" wR="25400" stAng="10800000" swAng="-5400000"/>
                <a:close/>
              </a:path>
            </a:pathLst>
          </a:custGeom>
          <a:solidFill>
            <a:srgbClr val="0F9D8A"/>
          </a:solidFill>
          <a:ln/>
        </p:spPr>
        <p:txBody>
          <a:bodyPr/>
          <a:p/>
        </p:txBody>
      </p:sp>
      <p:sp>
        <p:nvSpPr>
          <p:cNvPr id="19" name="Text 17"/>
          <p:cNvSpPr/>
          <p:nvPr/>
        </p:nvSpPr>
        <p:spPr>
          <a:xfrm>
            <a:off x="5319731" y="3312108"/>
            <a:ext cx="60450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AF3F6"/>
                </a:solidFill>
                <a:latin typeface="DM Sans" pitchFamily="34" charset="0"/>
                <a:ea typeface="DM Sans" pitchFamily="34" charset="-122"/>
                <a:cs typeface="DM Sans" pitchFamily="34" charset="-120"/>
              </a:rPr>
              <a:t>SAM · Clinical decision support</a:t>
            </a:r>
            <a:endParaRPr lang="en-US" sz="1700" dirty="0"/>
          </a:p>
        </p:txBody>
      </p:sp>
      <p:sp>
        <p:nvSpPr>
          <p:cNvPr id="20" name="Text 18"/>
          <p:cNvSpPr/>
          <p:nvPr/>
        </p:nvSpPr>
        <p:spPr>
          <a:xfrm>
            <a:off x="5319731" y="3609249"/>
            <a:ext cx="6045068" cy="4876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5"/>
                </a:solidFill>
                <a:latin typeface="DM Sans" pitchFamily="34" charset="0"/>
                <a:ea typeface="DM Sans" pitchFamily="34" charset="-122"/>
                <a:cs typeface="DM Sans" pitchFamily="34" charset="-120"/>
              </a:rPr>
              <a:t>Software and AI decision support in North American and European dialysis clinics, about $3.2B.</a:t>
            </a:r>
            <a:endParaRPr lang="en-US" sz="1300" dirty="0"/>
          </a:p>
        </p:txBody>
      </p:sp>
      <p:sp>
        <p:nvSpPr>
          <p:cNvPr id="21" name="Shape 19"/>
          <p:cNvSpPr/>
          <p:nvPr/>
        </p:nvSpPr>
        <p:spPr>
          <a:xfrm>
            <a:off x="5079936" y="4350854"/>
            <a:ext cx="6299267" cy="807621"/>
          </a:xfrm>
          <a:prstGeom prst="roundRect">
            <a:avLst>
              <a:gd name="adj" fmla="val 9435"/>
            </a:avLst>
          </a:prstGeom>
          <a:solidFill>
            <a:srgbClr val="12304A"/>
          </a:solidFill>
          <a:ln/>
        </p:spPr>
        <p:txBody>
          <a:bodyPr/>
          <a:p/>
        </p:txBody>
      </p:sp>
      <p:sp>
        <p:nvSpPr>
          <p:cNvPr id="22" name="Shape 20"/>
          <p:cNvSpPr/>
          <p:nvPr/>
        </p:nvSpPr>
        <p:spPr>
          <a:xfrm>
            <a:off x="5079936" y="4350854"/>
            <a:ext cx="6299267" cy="807621"/>
          </a:xfrm>
          <a:custGeom>
            <a:avLst/>
            <a:gdLst/>
            <a:ahLst/>
            <a:cxnLst/>
            <a:rect l="l" t="t" r="r" b="b"/>
            <a:pathLst>
              <a:path w="6299267" h="807621">
                <a:moveTo>
                  <a:pt x="76200" y="807621"/>
                </a:moveTo>
                <a:lnTo>
                  <a:pt x="76200" y="807621"/>
                </a:lnTo>
                <a:arcTo hR="76200" wR="76200" stAng="5400000" swAng="5400000"/>
                <a:lnTo>
                  <a:pt x="0" y="76200"/>
                </a:lnTo>
                <a:arcTo hR="76200" wR="76200" stAng="10800000" swAng="5400000"/>
                <a:lnTo>
                  <a:pt x="76200" y="0"/>
                </a:lnTo>
                <a:arcTo hR="76200" wR="25400" stAng="16200000" swAng="-5400000"/>
                <a:lnTo>
                  <a:pt x="50800" y="731421"/>
                </a:lnTo>
                <a:arcTo hR="76200" wR="25400" stAng="10800000" swAng="-5400000"/>
                <a:close/>
              </a:path>
            </a:pathLst>
          </a:custGeom>
          <a:solidFill>
            <a:srgbClr val="F5B83D"/>
          </a:solidFill>
          <a:ln/>
        </p:spPr>
        <p:txBody>
          <a:bodyPr/>
          <a:p/>
        </p:txBody>
      </p:sp>
      <p:sp>
        <p:nvSpPr>
          <p:cNvPr id="23" name="Text 21"/>
          <p:cNvSpPr/>
          <p:nvPr/>
        </p:nvSpPr>
        <p:spPr>
          <a:xfrm>
            <a:off x="5319731" y="4490535"/>
            <a:ext cx="60450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AF3F6"/>
                </a:solidFill>
                <a:latin typeface="DM Sans" pitchFamily="34" charset="0"/>
                <a:ea typeface="DM Sans" pitchFamily="34" charset="-122"/>
                <a:cs typeface="DM Sans" pitchFamily="34" charset="-120"/>
              </a:rPr>
              <a:t>SOM · Initial rollout</a:t>
            </a:r>
            <a:endParaRPr lang="en-US" sz="1700" dirty="0"/>
          </a:p>
        </p:txBody>
      </p:sp>
      <p:sp>
        <p:nvSpPr>
          <p:cNvPr id="24" name="Text 22"/>
          <p:cNvSpPr/>
          <p:nvPr/>
        </p:nvSpPr>
        <p:spPr>
          <a:xfrm>
            <a:off x="5319731" y="4787677"/>
            <a:ext cx="6045068"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5"/>
                </a:solidFill>
                <a:latin typeface="DM Sans" pitchFamily="34" charset="0"/>
                <a:ea typeface="DM Sans" pitchFamily="34" charset="-122"/>
                <a:cs typeface="DM Sans" pitchFamily="34" charset="-120"/>
              </a:rPr>
              <a:t>Top 50 regional outpatient dialysis chains, about $120M addressable.</a:t>
            </a:r>
            <a:endParaRPr lang="en-US" sz="1300" dirty="0"/>
          </a:p>
        </p:txBody>
      </p:sp>
      <p:sp>
        <p:nvSpPr>
          <p:cNvPr id="25" name="Text 23"/>
          <p:cNvSpPr/>
          <p:nvPr/>
        </p:nvSpPr>
        <p:spPr>
          <a:xfrm>
            <a:off x="5084064" y="5760720"/>
            <a:ext cx="6300216" cy="384048"/>
          </a:xfrm>
          <a:prstGeom prst="rect">
            <a:avLst/>
          </a:prstGeom>
          <a:noFill/>
          <a:ln/>
        </p:spPr>
        <p:txBody>
          <a:bodyPr wrap="square" lIns="0" tIns="0" rIns="0" bIns="0" rtlCol="0" anchor="t">
            <a:noAutofit/>
          </a:bodyPr>
          <a:lstStyle/>
          <a:p>
            <a:pPr algn="l" indent="0" marL="0">
              <a:lnSpc>
                <a:spcPts val="1620"/>
              </a:lnSpc>
              <a:buNone/>
            </a:pPr>
            <a:r>
              <a:rPr lang="en-US" sz="900" dirty="0">
                <a:solidFill>
                  <a:srgbClr val="A9C3D0"/>
                </a:solidFill>
                <a:latin typeface="DM Sans" pitchFamily="34" charset="0"/>
                <a:ea typeface="DM Sans" pitchFamily="34" charset="-122"/>
                <a:cs typeface="DM Sans" pitchFamily="34" charset="-120"/>
              </a:rPr>
              <a:t>Global figures: team triangulation of published market-research estimates; verify before external use. India figures: Ministry of Health and Family Welfare, PM National Dialysis Programme guidelines.</a:t>
            </a:r>
            <a:endParaRPr lang="en-US" sz="1200" dirty="0"/>
          </a:p>
        </p:txBody>
      </p:sp>
      <p:sp>
        <p:nvSpPr>
          <p:cNvPr id="26" name="Text 24"/>
          <p:cNvSpPr/>
          <p:nvPr/>
        </p:nvSpPr>
        <p:spPr>
          <a:xfrm>
            <a:off x="812759" y="6238261"/>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7" name="Text 25"/>
          <p:cNvSpPr/>
          <p:nvPr/>
        </p:nvSpPr>
        <p:spPr>
          <a:xfrm>
            <a:off x="10058403" y="6238261"/>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10 / 14</a:t>
            </a:r>
            <a:endParaRPr lang="en-US" sz="1200" dirty="0"/>
          </a:p>
        </p:txBody>
      </p:sp>
      <p:sp>
        <p:nvSpPr>
          <p:cNvPr id="28" name="TextBox 27"/>
          <p:cNvSpPr txBox="1"/>
          <p:nvPr/>
        </p:nvSpPr>
        <p:spPr>
          <a:xfrm>
            <a:off x="5084064" y="5285232"/>
            <a:ext cx="6300216" cy="411480"/>
          </a:xfrm>
          <a:prstGeom prst="rect">
            <a:avLst/>
          </a:prstGeom>
          <a:noFill/>
        </p:spPr>
        <p:txBody>
          <a:bodyPr wrap="square" lIns="0" rIns="0" tIns="0" bIns="0">
            <a:spAutoFit/>
          </a:bodyPr>
          <a:lstStyle/>
          <a:p>
            <a:r>
              <a:rPr sz="1100" b="0">
                <a:solidFill>
                  <a:srgbClr val="F7B731"/>
                </a:solidFill>
                <a:latin typeface="DM Sans"/>
              </a:rPr>
              <a:t>India lens: about 2.2 lakh new ESRD patients a year (roughly 3.4 crore added dialysis sessions). India-first entry via private chains and district centres.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812759" y="812763"/>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66E"/>
                </a:solidFill>
                <a:latin typeface="DM Sans" pitchFamily="34" charset="0"/>
                <a:ea typeface="DM Sans" pitchFamily="34" charset="-122"/>
                <a:cs typeface="DM Sans" pitchFamily="34" charset="-120"/>
              </a:rPr>
              <a:t>🚀 GO-TO-MARKET AND REGULATORY ROADMAP</a:t>
            </a:r>
            <a:endParaRPr lang="en-US" sz="1300" dirty="0"/>
          </a:p>
        </p:txBody>
      </p:sp>
      <p:sp>
        <p:nvSpPr>
          <p:cNvPr id="3" name="Text 1"/>
          <p:cNvSpPr/>
          <p:nvPr>
            <p:ph type="title"/>
          </p:nvPr>
        </p:nvSpPr>
        <p:spPr>
          <a:xfrm>
            <a:off x="812759" y="1234362"/>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2E"/>
                </a:solidFill>
                <a:latin typeface="DM Sans" pitchFamily="34" charset="0"/>
                <a:ea typeface="DM Sans" pitchFamily="34" charset="-122"/>
                <a:cs typeface="DM Sans" pitchFamily="34" charset="-120"/>
              </a:rPr>
              <a:t>Validate, regulate, then scale</a:t>
            </a:r>
            <a:endParaRPr lang="en-US" sz="3000" dirty="0"/>
          </a:p>
        </p:txBody>
      </p:sp>
      <p:sp>
        <p:nvSpPr>
          <p:cNvPr id="4" name="Shape 2"/>
          <p:cNvSpPr/>
          <p:nvPr/>
        </p:nvSpPr>
        <p:spPr>
          <a:xfrm>
            <a:off x="819109" y="1850281"/>
            <a:ext cx="3390921" cy="3153502"/>
          </a:xfrm>
          <a:prstGeom prst="roundRect">
            <a:avLst>
              <a:gd name="adj" fmla="val 3826"/>
            </a:avLst>
          </a:prstGeom>
          <a:solidFill>
            <a:srgbClr val="FFFFFF"/>
          </a:solidFill>
          <a:ln w="12700">
            <a:solidFill>
              <a:srgbClr val="D3E0E4"/>
            </a:solidFill>
            <a:prstDash val="solid"/>
          </a:ln>
        </p:spPr>
        <p:txBody>
          <a:bodyPr/>
          <a:p/>
        </p:txBody>
      </p:sp>
      <p:sp>
        <p:nvSpPr>
          <p:cNvPr id="5" name="Text 3"/>
          <p:cNvSpPr/>
          <p:nvPr/>
        </p:nvSpPr>
        <p:spPr>
          <a:xfrm>
            <a:off x="1040930" y="2046734"/>
            <a:ext cx="3035697" cy="238736"/>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F766E"/>
                </a:solidFill>
                <a:latin typeface="DM Sans" pitchFamily="34" charset="0"/>
                <a:ea typeface="DM Sans" pitchFamily="34" charset="-122"/>
                <a:cs typeface="DM Sans" pitchFamily="34" charset="-120"/>
              </a:rPr>
              <a:t>PHASE 1 · NEAR TERM · 0 TO 12 MONTHS</a:t>
            </a:r>
            <a:endParaRPr lang="en-US" sz="1200" dirty="0"/>
          </a:p>
        </p:txBody>
      </p:sp>
      <p:sp>
        <p:nvSpPr>
          <p:cNvPr id="6" name="Text 4"/>
          <p:cNvSpPr/>
          <p:nvPr/>
        </p:nvSpPr>
        <p:spPr>
          <a:xfrm>
            <a:off x="1040930" y="2336236"/>
            <a:ext cx="3035697" cy="31490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1F2E"/>
                </a:solidFill>
                <a:latin typeface="DM Sans" pitchFamily="34" charset="0"/>
                <a:ea typeface="DM Sans" pitchFamily="34" charset="-122"/>
                <a:cs typeface="DM Sans" pitchFamily="34" charset="-120"/>
              </a:rPr>
              <a:t>🔬 Validate</a:t>
            </a:r>
            <a:endParaRPr lang="en-US" sz="1900" dirty="0"/>
          </a:p>
        </p:txBody>
      </p:sp>
      <p:sp>
        <p:nvSpPr>
          <p:cNvPr id="7" name="Text 5"/>
          <p:cNvSpPr/>
          <p:nvPr/>
        </p:nvSpPr>
        <p:spPr>
          <a:xfrm>
            <a:off x="1132624" y="2701900"/>
            <a:ext cx="2936383" cy="1874401"/>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IRB-approved prospective observational study with partner clinics</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Continuous BP, medications and UF profiles</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Real-world value of continuous monitoring</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Clinician usability study</a:t>
            </a:r>
            <a:endParaRPr lang="en-US" sz="1300" dirty="0"/>
          </a:p>
        </p:txBody>
      </p:sp>
      <p:sp>
        <p:nvSpPr>
          <p:cNvPr id="8" name="Shape 6"/>
          <p:cNvSpPr/>
          <p:nvPr/>
        </p:nvSpPr>
        <p:spPr>
          <a:xfrm>
            <a:off x="4400488" y="1850281"/>
            <a:ext cx="3390985" cy="3153502"/>
          </a:xfrm>
          <a:prstGeom prst="roundRect">
            <a:avLst>
              <a:gd name="adj" fmla="val 3826"/>
            </a:avLst>
          </a:prstGeom>
          <a:solidFill>
            <a:srgbClr val="FFFFFF"/>
          </a:solidFill>
          <a:ln w="12700">
            <a:solidFill>
              <a:srgbClr val="D3E0E4"/>
            </a:solidFill>
            <a:prstDash val="solid"/>
          </a:ln>
        </p:spPr>
        <p:txBody>
          <a:bodyPr/>
          <a:p/>
        </p:txBody>
      </p:sp>
      <p:sp>
        <p:nvSpPr>
          <p:cNvPr id="9" name="Text 7"/>
          <p:cNvSpPr/>
          <p:nvPr/>
        </p:nvSpPr>
        <p:spPr>
          <a:xfrm>
            <a:off x="4622310" y="2046734"/>
            <a:ext cx="3035763" cy="238736"/>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9A5B00"/>
                </a:solidFill>
                <a:latin typeface="DM Sans" pitchFamily="34" charset="0"/>
                <a:ea typeface="DM Sans" pitchFamily="34" charset="-122"/>
                <a:cs typeface="DM Sans" pitchFamily="34" charset="-120"/>
              </a:rPr>
              <a:t>PHASE 2 · REGULATORY · 12 TO 30 MONTHS</a:t>
            </a:r>
            <a:endParaRPr lang="en-US" sz="1200" dirty="0"/>
          </a:p>
        </p:txBody>
      </p:sp>
      <p:sp>
        <p:nvSpPr>
          <p:cNvPr id="10" name="Text 8"/>
          <p:cNvSpPr/>
          <p:nvPr/>
        </p:nvSpPr>
        <p:spPr>
          <a:xfrm>
            <a:off x="4622310" y="2336236"/>
            <a:ext cx="3035763" cy="31490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1F2E"/>
                </a:solidFill>
                <a:latin typeface="DM Sans" pitchFamily="34" charset="0"/>
                <a:ea typeface="DM Sans" pitchFamily="34" charset="-122"/>
                <a:cs typeface="DM Sans" pitchFamily="34" charset="-120"/>
              </a:rPr>
              <a:t>🛡️ Regulate</a:t>
            </a:r>
            <a:endParaRPr lang="en-US" sz="1900" dirty="0"/>
          </a:p>
        </p:txBody>
      </p:sp>
      <p:sp>
        <p:nvSpPr>
          <p:cNvPr id="11" name="Text 9"/>
          <p:cNvSpPr/>
          <p:nvPr/>
        </p:nvSpPr>
        <p:spPr>
          <a:xfrm>
            <a:off x="4714004" y="2701900"/>
            <a:ext cx="2936449" cy="1643276"/>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Software as a Medical Device (SaMD) as a clinical decision support tool</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FDA 510(k) submission and CE mark pathway</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Quality system, clinical validation, calibration monitoring</a:t>
            </a:r>
            <a:endParaRPr lang="en-US" sz="1300" dirty="0"/>
          </a:p>
        </p:txBody>
      </p:sp>
      <p:sp>
        <p:nvSpPr>
          <p:cNvPr id="12" name="Text 10"/>
          <p:cNvSpPr/>
          <p:nvPr/>
        </p:nvSpPr>
        <p:spPr>
          <a:xfrm>
            <a:off x="4622310" y="4395936"/>
            <a:ext cx="3035763" cy="43678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A68"/>
                </a:solidFill>
                <a:latin typeface="DM Sans" pitchFamily="34" charset="0"/>
                <a:ea typeface="DM Sans" pitchFamily="34" charset="-122"/>
                <a:cs typeface="DM Sans" pitchFamily="34" charset="-120"/>
              </a:rPr>
              <a:t>Pathway to confirm with regulatory counsel. India CDSCO pilots run in parallel.</a:t>
            </a:r>
            <a:endParaRPr lang="en-US" sz="1200" dirty="0"/>
          </a:p>
        </p:txBody>
      </p:sp>
      <p:sp>
        <p:nvSpPr>
          <p:cNvPr id="13" name="Shape 11"/>
          <p:cNvSpPr/>
          <p:nvPr/>
        </p:nvSpPr>
        <p:spPr>
          <a:xfrm>
            <a:off x="7981932" y="1850281"/>
            <a:ext cx="3390921" cy="3153502"/>
          </a:xfrm>
          <a:prstGeom prst="roundRect">
            <a:avLst>
              <a:gd name="adj" fmla="val 3826"/>
            </a:avLst>
          </a:prstGeom>
          <a:solidFill>
            <a:srgbClr val="FFFFFF"/>
          </a:solidFill>
          <a:ln w="12700">
            <a:solidFill>
              <a:srgbClr val="D3E0E4"/>
            </a:solidFill>
            <a:prstDash val="solid"/>
          </a:ln>
        </p:spPr>
        <p:txBody>
          <a:bodyPr/>
          <a:p/>
        </p:txBody>
      </p:sp>
      <p:sp>
        <p:nvSpPr>
          <p:cNvPr id="14" name="Text 12"/>
          <p:cNvSpPr/>
          <p:nvPr/>
        </p:nvSpPr>
        <p:spPr>
          <a:xfrm>
            <a:off x="8203754" y="2046734"/>
            <a:ext cx="3035697" cy="238736"/>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B1F2E"/>
                </a:solidFill>
                <a:latin typeface="DM Sans" pitchFamily="34" charset="0"/>
                <a:ea typeface="DM Sans" pitchFamily="34" charset="-122"/>
                <a:cs typeface="DM Sans" pitchFamily="34" charset="-120"/>
              </a:rPr>
              <a:t>PHASE 3 · SCALE · 30 TO 48 MONTHS</a:t>
            </a:r>
            <a:endParaRPr lang="en-US" sz="1200" dirty="0"/>
          </a:p>
        </p:txBody>
      </p:sp>
      <p:sp>
        <p:nvSpPr>
          <p:cNvPr id="15" name="Text 13"/>
          <p:cNvSpPr/>
          <p:nvPr/>
        </p:nvSpPr>
        <p:spPr>
          <a:xfrm>
            <a:off x="8203754" y="2336236"/>
            <a:ext cx="3035697" cy="31490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1F2E"/>
                </a:solidFill>
                <a:latin typeface="DM Sans" pitchFamily="34" charset="0"/>
                <a:ea typeface="DM Sans" pitchFamily="34" charset="-122"/>
                <a:cs typeface="DM Sans" pitchFamily="34" charset="-120"/>
              </a:rPr>
              <a:t>🏥 Scale</a:t>
            </a:r>
            <a:endParaRPr lang="en-US" sz="1900" dirty="0"/>
          </a:p>
        </p:txBody>
      </p:sp>
      <p:sp>
        <p:nvSpPr>
          <p:cNvPr id="16" name="Text 14"/>
          <p:cNvSpPr/>
          <p:nvPr/>
        </p:nvSpPr>
        <p:spPr>
          <a:xfrm>
            <a:off x="8295448" y="2701900"/>
            <a:ext cx="2936383" cy="1412151"/>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Integration partnerships with dialysis machine makers, e.g. Fresenius, Baxter</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EHR integrations, e.g. Epic, Cerner</a:t>
            </a:r>
            <a:endParaRPr lang="en-US" sz="1300" dirty="0"/>
          </a:p>
          <a:p>
            <a:pPr algn="l" marL="162306" indent="-162306">
              <a:lnSpc>
                <a:spcPts val="1820"/>
              </a:lnSpc>
              <a:buSzPct val="100000"/>
              <a:buChar char="•"/>
            </a:pPr>
            <a:r>
              <a:rPr lang="en-US" sz="1300" dirty="0">
                <a:solidFill>
                  <a:srgbClr val="0B1F2E"/>
                </a:solidFill>
                <a:latin typeface="DM Sans" pitchFamily="34" charset="0"/>
                <a:ea typeface="DM Sans" pitchFamily="34" charset="-122"/>
                <a:cs typeface="DM Sans" pitchFamily="34" charset="-120"/>
              </a:rPr>
              <a:t>Rollout across the top 50 regional chains</a:t>
            </a:r>
            <a:endParaRPr lang="en-US" sz="1300" dirty="0"/>
          </a:p>
        </p:txBody>
      </p:sp>
      <p:sp>
        <p:nvSpPr>
          <p:cNvPr id="17" name="Text 15"/>
          <p:cNvSpPr/>
          <p:nvPr/>
        </p:nvSpPr>
        <p:spPr>
          <a:xfrm>
            <a:off x="8203754" y="4164812"/>
            <a:ext cx="3035697" cy="23109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35A68"/>
                </a:solidFill>
                <a:latin typeface="DM Sans" pitchFamily="34" charset="0"/>
                <a:ea typeface="DM Sans" pitchFamily="34" charset="-122"/>
                <a:cs typeface="DM Sans" pitchFamily="34" charset="-120"/>
              </a:rPr>
              <a:t>Target partners, no agreements yet.</a:t>
            </a:r>
            <a:endParaRPr lang="en-US" sz="1200" dirty="0"/>
          </a:p>
        </p:txBody>
      </p:sp>
      <p:sp>
        <p:nvSpPr>
          <p:cNvPr id="18" name="Text 16"/>
          <p:cNvSpPr/>
          <p:nvPr/>
        </p:nvSpPr>
        <p:spPr>
          <a:xfrm>
            <a:off x="812759" y="5200607"/>
            <a:ext cx="10566444" cy="485048"/>
          </a:xfrm>
          <a:prstGeom prst="roundRect">
            <a:avLst>
              <a:gd name="adj" fmla="val 20946"/>
            </a:avLst>
          </a:prstGeom>
          <a:solidFill>
            <a:srgbClr val="0B1F2E"/>
          </a:solidFill>
          <a:ln/>
        </p:spPr>
        <p:txBody>
          <a:bodyPr wrap="square" lIns="173442" tIns="97242" rIns="0" bIns="71842" rtlCol="0" anchor="t">
            <a:normAutofit/>
          </a:bodyPr>
          <a:lstStyle/>
          <a:p>
            <a:pPr algn="l" indent="0" marL="0">
              <a:lnSpc>
                <a:spcPts val="1820"/>
              </a:lnSpc>
              <a:buNone/>
            </a:pPr>
            <a:r>
              <a:rPr lang="en-US" sz="1300" b="1" dirty="0">
                <a:solidFill>
                  <a:srgbClr val="2DD4BF"/>
                </a:solidFill>
                <a:latin typeface="DM Sans" pitchFamily="34" charset="0"/>
                <a:ea typeface="DM Sans" pitchFamily="34" charset="-122"/>
                <a:cs typeface="DM Sans" pitchFamily="34" charset="-120"/>
              </a:rPr>
              <a:t>Commercial motion.</a:t>
            </a:r>
            <a:r>
              <a:rPr lang="en-US" sz="1300" dirty="0">
                <a:solidFill>
                  <a:srgbClr val="EAF3F6"/>
                </a:solidFill>
                <a:latin typeface="DM Sans" pitchFamily="34" charset="0"/>
                <a:ea typeface="DM Sans" pitchFamily="34" charset="-122"/>
                <a:cs typeface="DM Sans" pitchFamily="34" charset="-120"/>
              </a:rPr>
              <a:t> Pilot with partner clinics, convert to PPPM licences, add EHR integration fees as sites connect.</a:t>
            </a:r>
            <a:endParaRPr lang="en-US" sz="1300" dirty="0"/>
          </a:p>
        </p:txBody>
      </p:sp>
      <p:sp>
        <p:nvSpPr>
          <p:cNvPr id="19" name="Text 17"/>
          <p:cNvSpPr/>
          <p:nvPr/>
        </p:nvSpPr>
        <p:spPr>
          <a:xfrm>
            <a:off x="812759" y="6238261"/>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0" name="Text 18"/>
          <p:cNvSpPr/>
          <p:nvPr/>
        </p:nvSpPr>
        <p:spPr>
          <a:xfrm>
            <a:off x="10058403" y="6238261"/>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5A68"/>
                </a:solidFill>
                <a:latin typeface="DM Sans" pitchFamily="34" charset="0"/>
                <a:ea typeface="DM Sans" pitchFamily="34" charset="-122"/>
                <a:cs typeface="DM Sans" pitchFamily="34" charset="-120"/>
              </a:rPr>
              <a:t>11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2E"/>
        </a:solidFill>
      </p:bgPr>
    </p:bg>
    <p:spTree>
      <p:nvGrpSpPr>
        <p:cNvPr id="1" name=""/>
        <p:cNvGrpSpPr/>
        <p:nvPr/>
      </p:nvGrpSpPr>
      <p:grpSpPr>
        <a:xfrm>
          <a:off x="0" y="0"/>
          <a:ext cx="0" cy="0"/>
          <a:chOff x="0" y="0"/>
          <a:chExt cx="0" cy="0"/>
        </a:xfrm>
      </p:grpSpPr>
      <p:sp>
        <p:nvSpPr>
          <p:cNvPr id="2" name="Text 0"/>
          <p:cNvSpPr/>
          <p:nvPr/>
        </p:nvSpPr>
        <p:spPr>
          <a:xfrm>
            <a:off x="812759" y="812757"/>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 COMPETITIVE LANDSCAPE</a:t>
            </a:r>
            <a:endParaRPr lang="en-US" sz="1300" dirty="0"/>
          </a:p>
        </p:txBody>
      </p:sp>
      <p:sp>
        <p:nvSpPr>
          <p:cNvPr id="3" name="Text 1"/>
          <p:cNvSpPr/>
          <p:nvPr>
            <p:ph type="title"/>
          </p:nvPr>
        </p:nvSpPr>
        <p:spPr>
          <a:xfrm>
            <a:off x="812759" y="1221643"/>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EAF3F6"/>
                </a:solidFill>
                <a:latin typeface="DM Sans" pitchFamily="34" charset="0"/>
                <a:ea typeface="DM Sans" pitchFamily="34" charset="-122"/>
                <a:cs typeface="DM Sans" pitchFamily="34" charset="-120"/>
              </a:rPr>
              <a:t>Twin versus standard ML versus static rules</a:t>
            </a:r>
            <a:endParaRPr lang="en-US" sz="3000" dirty="0"/>
          </a:p>
        </p:txBody>
      </p:sp>
      <p:sp>
        <p:nvSpPr>
          <p:cNvPr id="4" name="Text 2"/>
          <p:cNvSpPr/>
          <p:nvPr/>
        </p:nvSpPr>
        <p:spPr>
          <a:xfrm>
            <a:off x="2666872" y="1882000"/>
            <a:ext cx="2534497" cy="2742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C3D0"/>
                </a:solidFill>
                <a:latin typeface="DM Sans" pitchFamily="34" charset="0"/>
                <a:ea typeface="DM Sans" pitchFamily="34" charset="-122"/>
                <a:cs typeface="DM Sans" pitchFamily="34" charset="-120"/>
              </a:rPr>
              <a:t>Static rules</a:t>
            </a:r>
            <a:endParaRPr lang="en-US" sz="1400" dirty="0"/>
          </a:p>
        </p:txBody>
      </p:sp>
      <p:sp>
        <p:nvSpPr>
          <p:cNvPr id="5" name="Text 3"/>
          <p:cNvSpPr/>
          <p:nvPr/>
        </p:nvSpPr>
        <p:spPr>
          <a:xfrm>
            <a:off x="5457712" y="1882000"/>
            <a:ext cx="2534497" cy="2742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C3D0"/>
                </a:solidFill>
                <a:latin typeface="DM Sans" pitchFamily="34" charset="0"/>
                <a:ea typeface="DM Sans" pitchFamily="34" charset="-122"/>
                <a:cs typeface="DM Sans" pitchFamily="34" charset="-120"/>
              </a:rPr>
              <a:t>Standard ML</a:t>
            </a:r>
            <a:endParaRPr lang="en-US" sz="1400" dirty="0"/>
          </a:p>
        </p:txBody>
      </p:sp>
      <p:sp>
        <p:nvSpPr>
          <p:cNvPr id="6" name="Text 4"/>
          <p:cNvSpPr/>
          <p:nvPr/>
        </p:nvSpPr>
        <p:spPr>
          <a:xfrm>
            <a:off x="8121553" y="1818500"/>
            <a:ext cx="3257650" cy="375811"/>
          </a:xfrm>
          <a:prstGeom prst="roundRect">
            <a:avLst>
              <a:gd name="adj" fmla="val 20276"/>
            </a:avLst>
          </a:prstGeom>
          <a:solidFill>
            <a:srgbClr val="2DD4BF"/>
          </a:solidFill>
          <a:ln/>
        </p:spPr>
        <p:txBody>
          <a:bodyPr wrap="square" lIns="104682" tIns="41182" rIns="14572" bIns="15782" rtlCol="0" anchor="t">
            <a:normAutofit/>
          </a:bodyPr>
          <a:lstStyle/>
          <a:p>
            <a:pPr algn="l" indent="0" marL="0">
              <a:lnSpc>
                <a:spcPts val="1960"/>
              </a:lnSpc>
              <a:buNone/>
            </a:pPr>
            <a:r>
              <a:rPr lang="en-US" sz="1400" b="1" dirty="0">
                <a:solidFill>
                  <a:srgbClr val="0B1F2E"/>
                </a:solidFill>
                <a:latin typeface="DM Sans" pitchFamily="34" charset="0"/>
                <a:ea typeface="DM Sans" pitchFamily="34" charset="-122"/>
                <a:cs typeface="DM Sans" pitchFamily="34" charset="-120"/>
              </a:rPr>
              <a:t>NephroTwin AI</a:t>
            </a:r>
            <a:endParaRPr lang="en-US" sz="1400" dirty="0"/>
          </a:p>
        </p:txBody>
      </p:sp>
      <p:sp>
        <p:nvSpPr>
          <p:cNvPr id="7" name="Text 5"/>
          <p:cNvSpPr/>
          <p:nvPr/>
        </p:nvSpPr>
        <p:spPr>
          <a:xfrm>
            <a:off x="812759" y="2372072"/>
            <a:ext cx="1701749" cy="45463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DM Sans" pitchFamily="34" charset="0"/>
                <a:ea typeface="DM Sans" pitchFamily="34" charset="-122"/>
                <a:cs typeface="DM Sans" pitchFamily="34" charset="-120"/>
              </a:rPr>
              <a:t>Personalization</a:t>
            </a:r>
            <a:endParaRPr lang="en-US" sz="1300" dirty="0"/>
          </a:p>
        </p:txBody>
      </p:sp>
      <p:sp>
        <p:nvSpPr>
          <p:cNvPr id="8" name="Text 6"/>
          <p:cNvSpPr/>
          <p:nvPr/>
        </p:nvSpPr>
        <p:spPr>
          <a:xfrm>
            <a:off x="2539872" y="2270472"/>
            <a:ext cx="2714677" cy="632431"/>
          </a:xfrm>
          <a:prstGeom prst="roundRect">
            <a:avLst>
              <a:gd name="adj" fmla="val 12049"/>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None. Fixed thresholds.</a:t>
            </a:r>
            <a:endParaRPr lang="en-US" sz="1300" dirty="0"/>
          </a:p>
        </p:txBody>
      </p:sp>
      <p:sp>
        <p:nvSpPr>
          <p:cNvPr id="9" name="Text 7"/>
          <p:cNvSpPr/>
          <p:nvPr/>
        </p:nvSpPr>
        <p:spPr>
          <a:xfrm>
            <a:off x="5330712" y="2270472"/>
            <a:ext cx="2714677" cy="632431"/>
          </a:xfrm>
          <a:prstGeom prst="roundRect">
            <a:avLst>
              <a:gd name="adj" fmla="val 12049"/>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Learned from population features.</a:t>
            </a:r>
            <a:endParaRPr lang="en-US" sz="1300" dirty="0"/>
          </a:p>
        </p:txBody>
      </p:sp>
      <p:sp>
        <p:nvSpPr>
          <p:cNvPr id="10" name="Text 8"/>
          <p:cNvSpPr/>
          <p:nvPr/>
        </p:nvSpPr>
        <p:spPr>
          <a:xfrm>
            <a:off x="8121553" y="2270472"/>
            <a:ext cx="3257650" cy="632431"/>
          </a:xfrm>
          <a:prstGeom prst="roundRect">
            <a:avLst>
              <a:gd name="adj" fmla="val 12049"/>
            </a:avLst>
          </a:prstGeom>
          <a:solidFill>
            <a:srgbClr val="0F766E"/>
          </a:solidFill>
          <a:ln/>
        </p:spPr>
        <p:txBody>
          <a:bodyPr wrap="square" lIns="104682" tIns="79282" rIns="14572" bIns="53882" rtlCol="0" anchor="t">
            <a:normAutofit/>
          </a:bodyPr>
          <a:lstStyle/>
          <a:p>
            <a:pPr algn="l" indent="0" marL="0">
              <a:lnSpc>
                <a:spcPts val="1690"/>
              </a:lnSpc>
              <a:buNone/>
            </a:pPr>
            <a:r>
              <a:rPr lang="en-US" sz="1300" b="1" dirty="0">
                <a:solidFill>
                  <a:srgbClr val="EAF3F6"/>
                </a:solidFill>
                <a:latin typeface="DM Sans" pitchFamily="34" charset="0"/>
                <a:ea typeface="DM Sans" pitchFamily="34" charset="-122"/>
                <a:cs typeface="DM Sans" pitchFamily="34" charset="-120"/>
              </a:rPr>
              <a:t>Per-patient k, S, g,</a:t>
            </a:r>
            <a:r>
              <a:rPr lang="en-US" sz="1300" dirty="0">
                <a:solidFill>
                  <a:srgbClr val="EAF3F6"/>
                </a:solidFill>
                <a:latin typeface="DM Sans" pitchFamily="34" charset="0"/>
                <a:ea typeface="DM Sans" pitchFamily="34" charset="-122"/>
                <a:cs typeface="DM Sans" pitchFamily="34" charset="-120"/>
              </a:rPr>
              <a:t> updated every session.</a:t>
            </a:r>
            <a:endParaRPr lang="en-US" sz="1300" dirty="0"/>
          </a:p>
        </p:txBody>
      </p:sp>
      <p:sp>
        <p:nvSpPr>
          <p:cNvPr id="11" name="Text 9"/>
          <p:cNvSpPr/>
          <p:nvPr/>
        </p:nvSpPr>
        <p:spPr>
          <a:xfrm>
            <a:off x="812759" y="3080668"/>
            <a:ext cx="1701749" cy="2565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DM Sans" pitchFamily="34" charset="0"/>
                <a:ea typeface="DM Sans" pitchFamily="34" charset="-122"/>
                <a:cs typeface="DM Sans" pitchFamily="34" charset="-120"/>
              </a:rPr>
              <a:t>Explainability</a:t>
            </a:r>
            <a:endParaRPr lang="en-US" sz="1300" dirty="0"/>
          </a:p>
        </p:txBody>
      </p:sp>
      <p:sp>
        <p:nvSpPr>
          <p:cNvPr id="12" name="Text 10"/>
          <p:cNvSpPr/>
          <p:nvPr/>
        </p:nvSpPr>
        <p:spPr>
          <a:xfrm>
            <a:off x="2539872" y="2979068"/>
            <a:ext cx="2714677" cy="434315"/>
          </a:xfrm>
          <a:prstGeom prst="roundRect">
            <a:avLst>
              <a:gd name="adj" fmla="val 17545"/>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Transparent but generic.</a:t>
            </a:r>
            <a:endParaRPr lang="en-US" sz="1300" dirty="0"/>
          </a:p>
        </p:txBody>
      </p:sp>
      <p:sp>
        <p:nvSpPr>
          <p:cNvPr id="13" name="Text 11"/>
          <p:cNvSpPr/>
          <p:nvPr/>
        </p:nvSpPr>
        <p:spPr>
          <a:xfrm>
            <a:off x="5330712" y="2979068"/>
            <a:ext cx="2714677" cy="434315"/>
          </a:xfrm>
          <a:prstGeom prst="roundRect">
            <a:avLst>
              <a:gd name="adj" fmla="val 17545"/>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Feature contributions.</a:t>
            </a:r>
            <a:endParaRPr lang="en-US" sz="1300" dirty="0"/>
          </a:p>
        </p:txBody>
      </p:sp>
      <p:sp>
        <p:nvSpPr>
          <p:cNvPr id="14" name="Text 12"/>
          <p:cNvSpPr/>
          <p:nvPr/>
        </p:nvSpPr>
        <p:spPr>
          <a:xfrm>
            <a:off x="8121553" y="2979068"/>
            <a:ext cx="3257650" cy="434315"/>
          </a:xfrm>
          <a:prstGeom prst="roundRect">
            <a:avLst>
              <a:gd name="adj" fmla="val 17545"/>
            </a:avLst>
          </a:prstGeom>
          <a:solidFill>
            <a:srgbClr val="0F766E"/>
          </a:solidFill>
          <a:ln/>
        </p:spPr>
        <p:txBody>
          <a:bodyPr wrap="square" lIns="104682" tIns="79282" rIns="14572" bIns="53882" rtlCol="0" anchor="t">
            <a:normAutofit/>
          </a:bodyPr>
          <a:lstStyle/>
          <a:p>
            <a:pPr algn="l" indent="0" marL="0">
              <a:lnSpc>
                <a:spcPts val="1690"/>
              </a:lnSpc>
              <a:buNone/>
            </a:pPr>
            <a:r>
              <a:rPr lang="en-US" sz="1300" b="1" dirty="0">
                <a:solidFill>
                  <a:srgbClr val="EAF3F6"/>
                </a:solidFill>
                <a:latin typeface="DM Sans" pitchFamily="34" charset="0"/>
                <a:ea typeface="DM Sans" pitchFamily="34" charset="-122"/>
                <a:cs typeface="DM Sans" pitchFamily="34" charset="-120"/>
              </a:rPr>
              <a:t>Physiology parameters</a:t>
            </a:r>
            <a:r>
              <a:rPr lang="en-US" sz="1300" dirty="0">
                <a:solidFill>
                  <a:srgbClr val="EAF3F6"/>
                </a:solidFill>
                <a:latin typeface="DM Sans" pitchFamily="34" charset="0"/>
                <a:ea typeface="DM Sans" pitchFamily="34" charset="-122"/>
                <a:cs typeface="DM Sans" pitchFamily="34" charset="-120"/>
              </a:rPr>
              <a:t> and fluid state.</a:t>
            </a:r>
            <a:endParaRPr lang="en-US" sz="1300" dirty="0"/>
          </a:p>
        </p:txBody>
      </p:sp>
      <p:sp>
        <p:nvSpPr>
          <p:cNvPr id="15" name="Text 13"/>
          <p:cNvSpPr/>
          <p:nvPr/>
        </p:nvSpPr>
        <p:spPr>
          <a:xfrm>
            <a:off x="812759" y="3591148"/>
            <a:ext cx="1701749" cy="2565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DM Sans" pitchFamily="34" charset="0"/>
                <a:ea typeface="DM Sans" pitchFamily="34" charset="-122"/>
                <a:cs typeface="DM Sans" pitchFamily="34" charset="-120"/>
              </a:rPr>
              <a:t>What-if simulation</a:t>
            </a:r>
            <a:endParaRPr lang="en-US" sz="1300" dirty="0"/>
          </a:p>
        </p:txBody>
      </p:sp>
      <p:sp>
        <p:nvSpPr>
          <p:cNvPr id="16" name="Text 14"/>
          <p:cNvSpPr/>
          <p:nvPr/>
        </p:nvSpPr>
        <p:spPr>
          <a:xfrm>
            <a:off x="2539872" y="3489548"/>
            <a:ext cx="2714677" cy="434315"/>
          </a:xfrm>
          <a:prstGeom prst="roundRect">
            <a:avLst>
              <a:gd name="adj" fmla="val 17545"/>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Not supported.</a:t>
            </a:r>
            <a:endParaRPr lang="en-US" sz="1300" dirty="0"/>
          </a:p>
        </p:txBody>
      </p:sp>
      <p:sp>
        <p:nvSpPr>
          <p:cNvPr id="17" name="Text 15"/>
          <p:cNvSpPr/>
          <p:nvPr/>
        </p:nvSpPr>
        <p:spPr>
          <a:xfrm>
            <a:off x="5330712" y="3489548"/>
            <a:ext cx="2714677" cy="434315"/>
          </a:xfrm>
          <a:prstGeom prst="roundRect">
            <a:avLst>
              <a:gd name="adj" fmla="val 17545"/>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Re-scores inputs, no physiology.</a:t>
            </a:r>
            <a:endParaRPr lang="en-US" sz="1300" dirty="0"/>
          </a:p>
        </p:txBody>
      </p:sp>
      <p:sp>
        <p:nvSpPr>
          <p:cNvPr id="18" name="Text 16"/>
          <p:cNvSpPr/>
          <p:nvPr/>
        </p:nvSpPr>
        <p:spPr>
          <a:xfrm>
            <a:off x="8121553" y="3489548"/>
            <a:ext cx="3257650" cy="434315"/>
          </a:xfrm>
          <a:prstGeom prst="roundRect">
            <a:avLst>
              <a:gd name="adj" fmla="val 17545"/>
            </a:avLst>
          </a:prstGeom>
          <a:solidFill>
            <a:srgbClr val="0F766E"/>
          </a:solidFill>
          <a:ln/>
        </p:spPr>
        <p:txBody>
          <a:bodyPr wrap="square" lIns="104682" tIns="79282" rIns="14572" bIns="53882" rtlCol="0" anchor="t">
            <a:normAutofit/>
          </a:bodyPr>
          <a:lstStyle/>
          <a:p>
            <a:pPr algn="l" indent="0" marL="0">
              <a:lnSpc>
                <a:spcPts val="1690"/>
              </a:lnSpc>
              <a:buNone/>
            </a:pPr>
            <a:r>
              <a:rPr lang="en-US" sz="1300" b="1" dirty="0">
                <a:solidFill>
                  <a:srgbClr val="EAF3F6"/>
                </a:solidFill>
                <a:latin typeface="DM Sans" pitchFamily="34" charset="0"/>
                <a:ea typeface="DM Sans" pitchFamily="34" charset="-122"/>
                <a:cs typeface="DM Sans" pitchFamily="34" charset="-120"/>
              </a:rPr>
              <a:t>Simulates</a:t>
            </a:r>
            <a:r>
              <a:rPr lang="en-US" sz="1300" dirty="0">
                <a:solidFill>
                  <a:srgbClr val="EAF3F6"/>
                </a:solidFill>
                <a:latin typeface="DM Sans" pitchFamily="34" charset="0"/>
                <a:ea typeface="DM Sans" pitchFamily="34" charset="-122"/>
                <a:cs typeface="DM Sans" pitchFamily="34" charset="-120"/>
              </a:rPr>
              <a:t> duration, UF, gap and heat.</a:t>
            </a:r>
            <a:endParaRPr lang="en-US" sz="1300" dirty="0"/>
          </a:p>
        </p:txBody>
      </p:sp>
      <p:sp>
        <p:nvSpPr>
          <p:cNvPr id="19" name="Text 17"/>
          <p:cNvSpPr/>
          <p:nvPr/>
        </p:nvSpPr>
        <p:spPr>
          <a:xfrm>
            <a:off x="812759" y="4101623"/>
            <a:ext cx="1701749" cy="2565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DM Sans" pitchFamily="34" charset="0"/>
                <a:ea typeface="DM Sans" pitchFamily="34" charset="-122"/>
                <a:cs typeface="DM Sans" pitchFamily="34" charset="-120"/>
              </a:rPr>
              <a:t>Uncertainty</a:t>
            </a:r>
            <a:endParaRPr lang="en-US" sz="1300" dirty="0"/>
          </a:p>
        </p:txBody>
      </p:sp>
      <p:sp>
        <p:nvSpPr>
          <p:cNvPr id="20" name="Text 18"/>
          <p:cNvSpPr/>
          <p:nvPr/>
        </p:nvSpPr>
        <p:spPr>
          <a:xfrm>
            <a:off x="2539872" y="4000023"/>
            <a:ext cx="2714677" cy="434315"/>
          </a:xfrm>
          <a:prstGeom prst="roundRect">
            <a:avLst>
              <a:gd name="adj" fmla="val 17545"/>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None.</a:t>
            </a:r>
            <a:endParaRPr lang="en-US" sz="1300" dirty="0"/>
          </a:p>
        </p:txBody>
      </p:sp>
      <p:sp>
        <p:nvSpPr>
          <p:cNvPr id="21" name="Text 19"/>
          <p:cNvSpPr/>
          <p:nvPr/>
        </p:nvSpPr>
        <p:spPr>
          <a:xfrm>
            <a:off x="5330712" y="4000023"/>
            <a:ext cx="2714677" cy="434315"/>
          </a:xfrm>
          <a:prstGeom prst="roundRect">
            <a:avLst>
              <a:gd name="adj" fmla="val 17545"/>
            </a:avLst>
          </a:prstGeom>
          <a:solidFill>
            <a:srgbClr val="12304A"/>
          </a:solidFill>
          <a:ln/>
        </p:spPr>
        <p:txBody>
          <a:bodyPr wrap="square" lIns="104682" tIns="79282" rIns="30861" bIns="53882" rtlCol="0" anchor="t">
            <a:normAutofit/>
          </a:bodyPr>
          <a:lstStyle/>
          <a:p>
            <a:pPr algn="l" indent="0" marL="0">
              <a:lnSpc>
                <a:spcPts val="1690"/>
              </a:lnSpc>
              <a:buNone/>
            </a:pPr>
            <a:r>
              <a:rPr lang="en-US" sz="1300" dirty="0">
                <a:solidFill>
                  <a:srgbClr val="EAF3F6"/>
                </a:solidFill>
                <a:latin typeface="DM Sans" pitchFamily="34" charset="0"/>
                <a:ea typeface="DM Sans" pitchFamily="34" charset="-122"/>
                <a:cs typeface="DM Sans" pitchFamily="34" charset="-120"/>
              </a:rPr>
              <a:t>Probability only.</a:t>
            </a:r>
            <a:endParaRPr lang="en-US" sz="1300" dirty="0"/>
          </a:p>
        </p:txBody>
      </p:sp>
      <p:sp>
        <p:nvSpPr>
          <p:cNvPr id="22" name="Text 20"/>
          <p:cNvSpPr/>
          <p:nvPr/>
        </p:nvSpPr>
        <p:spPr>
          <a:xfrm>
            <a:off x="8121553" y="4000023"/>
            <a:ext cx="3257650" cy="434315"/>
          </a:xfrm>
          <a:prstGeom prst="roundRect">
            <a:avLst>
              <a:gd name="adj" fmla="val 17545"/>
            </a:avLst>
          </a:prstGeom>
          <a:solidFill>
            <a:srgbClr val="0F766E"/>
          </a:solidFill>
          <a:ln/>
        </p:spPr>
        <p:txBody>
          <a:bodyPr wrap="square" lIns="104682" tIns="79282" rIns="14572" bIns="53882" rtlCol="0" anchor="t">
            <a:normAutofit/>
          </a:bodyPr>
          <a:lstStyle/>
          <a:p>
            <a:pPr algn="l" indent="0" marL="0">
              <a:lnSpc>
                <a:spcPts val="1690"/>
              </a:lnSpc>
              <a:buNone/>
            </a:pPr>
            <a:r>
              <a:rPr lang="en-US" sz="1300" b="1" dirty="0">
                <a:solidFill>
                  <a:srgbClr val="EAF3F6"/>
                </a:solidFill>
                <a:latin typeface="DM Sans" pitchFamily="34" charset="0"/>
                <a:ea typeface="DM Sans" pitchFamily="34" charset="-122"/>
                <a:cs typeface="DM Sans" pitchFamily="34" charset="-120"/>
              </a:rPr>
              <a:t>Parameter and state</a:t>
            </a:r>
            <a:r>
              <a:rPr lang="en-US" sz="1300" dirty="0">
                <a:solidFill>
                  <a:srgbClr val="EAF3F6"/>
                </a:solidFill>
                <a:latin typeface="DM Sans" pitchFamily="34" charset="0"/>
                <a:ea typeface="DM Sans" pitchFamily="34" charset="-122"/>
                <a:cs typeface="DM Sans" pitchFamily="34" charset="-120"/>
              </a:rPr>
              <a:t> uncertainty.</a:t>
            </a:r>
            <a:endParaRPr lang="en-US" sz="1300" dirty="0"/>
          </a:p>
        </p:txBody>
      </p:sp>
      <p:sp>
        <p:nvSpPr>
          <p:cNvPr id="23" name="Text 21"/>
          <p:cNvSpPr/>
          <p:nvPr/>
        </p:nvSpPr>
        <p:spPr>
          <a:xfrm>
            <a:off x="812759" y="4612097"/>
            <a:ext cx="10566444" cy="751751"/>
          </a:xfrm>
          <a:prstGeom prst="roundRect">
            <a:avLst>
              <a:gd name="adj" fmla="val 13515"/>
            </a:avLst>
          </a:prstGeom>
          <a:solidFill>
            <a:srgbClr val="FDF0D5"/>
          </a:solidFill>
          <a:ln/>
        </p:spPr>
        <p:txBody>
          <a:bodyPr wrap="square" lIns="160742" tIns="97242" rIns="0" bIns="71842" rtlCol="0" anchor="t">
            <a:normAutofit/>
          </a:bodyPr>
          <a:lstStyle/>
          <a:p>
            <a:pPr algn="l" indent="0" marL="0">
              <a:lnSpc>
                <a:spcPts val="1960"/>
              </a:lnSpc>
              <a:buNone/>
            </a:pPr>
            <a:r>
              <a:rPr lang="en-US" sz="1400" b="1" dirty="0">
                <a:solidFill>
                  <a:srgbClr val="0B1F2E"/>
                </a:solidFill>
                <a:latin typeface="DM Sans" pitchFamily="34" charset="0"/>
                <a:ea typeface="DM Sans" pitchFamily="34" charset="-122"/>
                <a:cs typeface="DM Sans" pitchFamily="34" charset="-120"/>
              </a:rPr>
              <a:t>Honest edge.</a:t>
            </a:r>
            <a:r>
              <a:rPr lang="en-US" sz="1400" dirty="0">
                <a:solidFill>
                  <a:srgbClr val="0B1F2E"/>
                </a:solidFill>
                <a:latin typeface="DM Sans" pitchFamily="34" charset="0"/>
                <a:ea typeface="DM Sans" pitchFamily="34" charset="-122"/>
                <a:cs typeface="DM Sans" pitchFamily="34" charset="-120"/>
              </a:rPr>
              <a:t> On real data the hybrid matches the standard model (0.871 vs 0.863) and adds explainable physiology and what-if simulation.</a:t>
            </a:r>
            <a:endParaRPr lang="en-US" sz="1400" dirty="0"/>
          </a:p>
        </p:txBody>
      </p:sp>
      <p:sp>
        <p:nvSpPr>
          <p:cNvPr id="24" name="Text 22"/>
          <p:cNvSpPr/>
          <p:nvPr/>
        </p:nvSpPr>
        <p:spPr>
          <a:xfrm>
            <a:off x="812759" y="6238261"/>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5" name="Text 23"/>
          <p:cNvSpPr/>
          <p:nvPr/>
        </p:nvSpPr>
        <p:spPr>
          <a:xfrm>
            <a:off x="10058403" y="6238261"/>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12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812759" y="812757"/>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66E"/>
                </a:solidFill>
                <a:latin typeface="DM Sans" pitchFamily="34" charset="0"/>
                <a:ea typeface="DM Sans" pitchFamily="34" charset="-122"/>
                <a:cs typeface="DM Sans" pitchFamily="34" charset="-120"/>
              </a:rPr>
              <a:t>🛡️ SAFETY, GOVERNANCE AND HONEST REPORTING</a:t>
            </a:r>
            <a:endParaRPr lang="en-US" sz="1300" dirty="0"/>
          </a:p>
        </p:txBody>
      </p:sp>
      <p:sp>
        <p:nvSpPr>
          <p:cNvPr id="3" name="Text 1"/>
          <p:cNvSpPr/>
          <p:nvPr>
            <p:ph type="title"/>
          </p:nvPr>
        </p:nvSpPr>
        <p:spPr>
          <a:xfrm>
            <a:off x="812759" y="1234356"/>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2E"/>
                </a:solidFill>
                <a:latin typeface="DM Sans" pitchFamily="34" charset="0"/>
                <a:ea typeface="DM Sans" pitchFamily="34" charset="-122"/>
                <a:cs typeface="DM Sans" pitchFamily="34" charset="-120"/>
              </a:rPr>
              <a:t>Built to inform clinicians, never to instruct them</a:t>
            </a:r>
            <a:endParaRPr lang="en-US" sz="3000" dirty="0"/>
          </a:p>
        </p:txBody>
      </p:sp>
      <p:sp>
        <p:nvSpPr>
          <p:cNvPr id="4" name="Shape 2"/>
          <p:cNvSpPr/>
          <p:nvPr/>
        </p:nvSpPr>
        <p:spPr>
          <a:xfrm>
            <a:off x="819109" y="1850275"/>
            <a:ext cx="3390921" cy="2264708"/>
          </a:xfrm>
          <a:prstGeom prst="roundRect">
            <a:avLst>
              <a:gd name="adj" fmla="val 5327"/>
            </a:avLst>
          </a:prstGeom>
          <a:solidFill>
            <a:srgbClr val="FFFFFF"/>
          </a:solidFill>
          <a:ln w="12700">
            <a:solidFill>
              <a:srgbClr val="D3E0E4"/>
            </a:solidFill>
            <a:prstDash val="solid"/>
          </a:ln>
        </p:spPr>
        <p:txBody>
          <a:bodyPr/>
          <a:p/>
        </p:txBody>
      </p:sp>
      <p:pic>
        <p:nvPicPr>
          <p:cNvPr id="5" name="Image 0" descr="Warning">    </p:cNvPr>
          <p:cNvPicPr>
            <a:picLocks noChangeAspect="1"/>
          </p:cNvPicPr>
          <p:nvPr/>
        </p:nvPicPr>
        <p:blipFill>
          <a:blip r:embed="rId1"/>
          <a:srcRect l="0" r="0" t="0" b="0"/>
          <a:stretch/>
        </p:blipFill>
        <p:spPr>
          <a:xfrm>
            <a:off x="1040930" y="2046734"/>
            <a:ext cx="304785" cy="304785"/>
          </a:xfrm>
          <a:prstGeom prst="rect">
            <a:avLst/>
          </a:prstGeom>
        </p:spPr>
      </p:pic>
      <p:sp>
        <p:nvSpPr>
          <p:cNvPr id="6" name="Text 3"/>
          <p:cNvSpPr/>
          <p:nvPr/>
        </p:nvSpPr>
        <p:spPr>
          <a:xfrm>
            <a:off x="1040930" y="2427678"/>
            <a:ext cx="30356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1F2E"/>
                </a:solidFill>
                <a:latin typeface="DM Sans" pitchFamily="34" charset="0"/>
                <a:ea typeface="DM Sans" pitchFamily="34" charset="-122"/>
                <a:cs typeface="DM Sans" pitchFamily="34" charset="-120"/>
              </a:rPr>
              <a:t>Prototype status</a:t>
            </a:r>
            <a:endParaRPr lang="en-US" sz="1700" dirty="0"/>
          </a:p>
        </p:txBody>
      </p:sp>
      <p:sp>
        <p:nvSpPr>
          <p:cNvPr id="7" name="Text 4"/>
          <p:cNvSpPr/>
          <p:nvPr/>
        </p:nvSpPr>
        <p:spPr>
          <a:xfrm>
            <a:off x="1040930" y="2762907"/>
            <a:ext cx="3035697" cy="9499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A68"/>
                </a:solidFill>
                <a:latin typeface="DM Sans" pitchFamily="34" charset="0"/>
                <a:ea typeface="DM Sans" pitchFamily="34" charset="-122"/>
                <a:cs typeface="DM Sans" pitchFamily="34" charset="-120"/>
              </a:rPr>
              <a:t>A simulated research prototype, not a medical device. Synthetic patients are labelled everywhere. Thresholds are configurable demonstration values.</a:t>
            </a:r>
            <a:endParaRPr lang="en-US" sz="1300" dirty="0"/>
          </a:p>
        </p:txBody>
      </p:sp>
      <p:sp>
        <p:nvSpPr>
          <p:cNvPr id="8" name="Shape 5"/>
          <p:cNvSpPr/>
          <p:nvPr/>
        </p:nvSpPr>
        <p:spPr>
          <a:xfrm>
            <a:off x="4400488" y="1850275"/>
            <a:ext cx="3390985" cy="2264708"/>
          </a:xfrm>
          <a:prstGeom prst="roundRect">
            <a:avLst>
              <a:gd name="adj" fmla="val 5327"/>
            </a:avLst>
          </a:prstGeom>
          <a:solidFill>
            <a:srgbClr val="FFFFFF"/>
          </a:solidFill>
          <a:ln w="12700">
            <a:solidFill>
              <a:srgbClr val="D3E0E4"/>
            </a:solidFill>
            <a:prstDash val="solid"/>
          </a:ln>
        </p:spPr>
        <p:txBody>
          <a:bodyPr/>
          <a:p/>
        </p:txBody>
      </p:sp>
      <p:pic>
        <p:nvPicPr>
          <p:cNvPr id="9" name="Image 1" descr="Lock">    </p:cNvPr>
          <p:cNvPicPr>
            <a:picLocks noChangeAspect="1"/>
          </p:cNvPicPr>
          <p:nvPr/>
        </p:nvPicPr>
        <p:blipFill>
          <a:blip r:embed="rId2"/>
          <a:srcRect l="0" r="0" t="0" b="0"/>
          <a:stretch/>
        </p:blipFill>
        <p:spPr>
          <a:xfrm>
            <a:off x="4622310" y="2046734"/>
            <a:ext cx="304785" cy="304785"/>
          </a:xfrm>
          <a:prstGeom prst="rect">
            <a:avLst/>
          </a:prstGeom>
        </p:spPr>
      </p:pic>
      <p:sp>
        <p:nvSpPr>
          <p:cNvPr id="10" name="Text 6"/>
          <p:cNvSpPr/>
          <p:nvPr/>
        </p:nvSpPr>
        <p:spPr>
          <a:xfrm>
            <a:off x="4622310" y="2427678"/>
            <a:ext cx="303576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1F2E"/>
                </a:solidFill>
                <a:latin typeface="DM Sans" pitchFamily="34" charset="0"/>
                <a:ea typeface="DM Sans" pitchFamily="34" charset="-122"/>
                <a:cs typeface="DM Sans" pitchFamily="34" charset="-120"/>
              </a:rPr>
              <a:t>Non-directive by design</a:t>
            </a:r>
            <a:endParaRPr lang="en-US" sz="1700" dirty="0"/>
          </a:p>
        </p:txBody>
      </p:sp>
      <p:sp>
        <p:nvSpPr>
          <p:cNvPr id="11" name="Text 7"/>
          <p:cNvSpPr/>
          <p:nvPr/>
        </p:nvSpPr>
        <p:spPr>
          <a:xfrm>
            <a:off x="4622310" y="2762907"/>
            <a:ext cx="3035763" cy="1181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A68"/>
                </a:solidFill>
                <a:latin typeface="DM Sans" pitchFamily="34" charset="0"/>
                <a:ea typeface="DM Sans" pitchFamily="34" charset="-122"/>
                <a:cs typeface="DM Sans" pitchFamily="34" charset="-120"/>
              </a:rPr>
              <a:t>Planner outputs are simulations marked “Clinical review required” and “Not a treatment recommendation”. No orders for duration, UF, medication or sessions.</a:t>
            </a:r>
            <a:endParaRPr lang="en-US" sz="1300" dirty="0"/>
          </a:p>
        </p:txBody>
      </p:sp>
      <p:sp>
        <p:nvSpPr>
          <p:cNvPr id="12" name="Shape 8"/>
          <p:cNvSpPr/>
          <p:nvPr/>
        </p:nvSpPr>
        <p:spPr>
          <a:xfrm>
            <a:off x="7981932" y="1850275"/>
            <a:ext cx="3390921" cy="2264708"/>
          </a:xfrm>
          <a:prstGeom prst="roundRect">
            <a:avLst>
              <a:gd name="adj" fmla="val 5327"/>
            </a:avLst>
          </a:prstGeom>
          <a:solidFill>
            <a:srgbClr val="FFFFFF"/>
          </a:solidFill>
          <a:ln w="12700">
            <a:solidFill>
              <a:srgbClr val="D3E0E4"/>
            </a:solidFill>
            <a:prstDash val="solid"/>
          </a:ln>
        </p:spPr>
        <p:txBody>
          <a:bodyPr/>
          <a:p/>
        </p:txBody>
      </p:sp>
      <p:pic>
        <p:nvPicPr>
          <p:cNvPr id="13" name="Image 2" descr="Verified">    </p:cNvPr>
          <p:cNvPicPr>
            <a:picLocks noChangeAspect="1"/>
          </p:cNvPicPr>
          <p:nvPr/>
        </p:nvPicPr>
        <p:blipFill>
          <a:blip r:embed="rId3"/>
          <a:srcRect l="0" r="0" t="0" b="0"/>
          <a:stretch/>
        </p:blipFill>
        <p:spPr>
          <a:xfrm>
            <a:off x="8203754" y="2046734"/>
            <a:ext cx="304785" cy="304785"/>
          </a:xfrm>
          <a:prstGeom prst="rect">
            <a:avLst/>
          </a:prstGeom>
        </p:spPr>
      </p:pic>
      <p:sp>
        <p:nvSpPr>
          <p:cNvPr id="14" name="Text 9"/>
          <p:cNvSpPr/>
          <p:nvPr/>
        </p:nvSpPr>
        <p:spPr>
          <a:xfrm>
            <a:off x="8203754" y="2427678"/>
            <a:ext cx="30356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1F2E"/>
                </a:solidFill>
                <a:latin typeface="DM Sans" pitchFamily="34" charset="0"/>
                <a:ea typeface="DM Sans" pitchFamily="34" charset="-122"/>
                <a:cs typeface="DM Sans" pitchFamily="34" charset="-120"/>
              </a:rPr>
              <a:t>Honest reporting</a:t>
            </a:r>
            <a:endParaRPr lang="en-US" sz="1700" dirty="0"/>
          </a:p>
        </p:txBody>
      </p:sp>
      <p:sp>
        <p:nvSpPr>
          <p:cNvPr id="15" name="Text 10"/>
          <p:cNvSpPr/>
          <p:nvPr/>
        </p:nvSpPr>
        <p:spPr>
          <a:xfrm>
            <a:off x="8203754" y="2762907"/>
            <a:ext cx="3035697" cy="1181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5A68"/>
                </a:solidFill>
                <a:latin typeface="DM Sans" pitchFamily="34" charset="0"/>
                <a:ea typeface="DM Sans" pitchFamily="34" charset="-122"/>
                <a:cs typeface="DM Sans" pitchFamily="34" charset="-120"/>
              </a:rPr>
              <a:t>On real data the twin alone underperforms. Synthetic wins are not clinical effectiveness, and retrospective simulation cannot show treatment benefit.</a:t>
            </a:r>
            <a:endParaRPr lang="en-US" sz="1300" dirty="0"/>
          </a:p>
        </p:txBody>
      </p:sp>
      <p:sp>
        <p:nvSpPr>
          <p:cNvPr id="16" name="Shape 11"/>
          <p:cNvSpPr/>
          <p:nvPr/>
        </p:nvSpPr>
        <p:spPr>
          <a:xfrm>
            <a:off x="812759" y="4311811"/>
            <a:ext cx="10566444" cy="1046260"/>
          </a:xfrm>
          <a:prstGeom prst="roundRect">
            <a:avLst>
              <a:gd name="adj" fmla="val 12138"/>
            </a:avLst>
          </a:prstGeom>
          <a:solidFill>
            <a:srgbClr val="0B1F2E"/>
          </a:solidFill>
          <a:ln/>
        </p:spPr>
        <p:txBody>
          <a:bodyPr/>
          <a:p/>
        </p:txBody>
      </p:sp>
      <p:sp>
        <p:nvSpPr>
          <p:cNvPr id="17" name="Text 12"/>
          <p:cNvSpPr/>
          <p:nvPr/>
        </p:nvSpPr>
        <p:spPr>
          <a:xfrm>
            <a:off x="1028600" y="4476855"/>
            <a:ext cx="10438805" cy="25652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DM Sans" pitchFamily="34" charset="0"/>
                <a:ea typeface="DM Sans" pitchFamily="34" charset="-122"/>
                <a:cs typeface="DM Sans" pitchFamily="34" charset="-120"/>
              </a:rPr>
              <a:t>Required before any real use</a:t>
            </a:r>
            <a:endParaRPr lang="en-US" sz="1300" dirty="0"/>
          </a:p>
        </p:txBody>
      </p:sp>
      <p:sp>
        <p:nvSpPr>
          <p:cNvPr id="18" name="Text 13"/>
          <p:cNvSpPr/>
          <p:nvPr/>
        </p:nvSpPr>
        <p:spPr>
          <a:xfrm>
            <a:off x="1028600" y="4784142"/>
            <a:ext cx="2457478" cy="408884"/>
          </a:xfrm>
          <a:prstGeom prst="roundRect">
            <a:avLst>
              <a:gd name="adj" fmla="val 18636"/>
            </a:avLst>
          </a:prstGeom>
          <a:solidFill>
            <a:srgbClr val="12304A"/>
          </a:solidFill>
          <a:ln/>
        </p:spPr>
        <p:txBody>
          <a:bodyPr wrap="square" lIns="19306" tIns="66582" rIns="19306" bIns="41182" rtlCol="0" anchor="t">
            <a:normAutofit/>
          </a:bodyPr>
          <a:lstStyle/>
          <a:p>
            <a:pPr algn="ctr" indent="0" marL="0">
              <a:lnSpc>
                <a:spcPts val="1820"/>
              </a:lnSpc>
              <a:buNone/>
            </a:pPr>
            <a:r>
              <a:rPr lang="en-US" sz="1300" dirty="0">
                <a:solidFill>
                  <a:srgbClr val="EAF3F6"/>
                </a:solidFill>
                <a:latin typeface="DM Sans" pitchFamily="34" charset="0"/>
                <a:ea typeface="DM Sans" pitchFamily="34" charset="-122"/>
                <a:cs typeface="DM Sans" pitchFamily="34" charset="-120"/>
              </a:rPr>
              <a:t>Clinical validation</a:t>
            </a:r>
            <a:endParaRPr lang="en-US" sz="1300" dirty="0"/>
          </a:p>
        </p:txBody>
      </p:sp>
      <p:sp>
        <p:nvSpPr>
          <p:cNvPr id="19" name="Text 14"/>
          <p:cNvSpPr/>
          <p:nvPr/>
        </p:nvSpPr>
        <p:spPr>
          <a:xfrm>
            <a:off x="3587673" y="4784142"/>
            <a:ext cx="2457543" cy="408884"/>
          </a:xfrm>
          <a:prstGeom prst="roundRect">
            <a:avLst>
              <a:gd name="adj" fmla="val 18636"/>
            </a:avLst>
          </a:prstGeom>
          <a:solidFill>
            <a:srgbClr val="12304A"/>
          </a:solidFill>
          <a:ln/>
        </p:spPr>
        <p:txBody>
          <a:bodyPr wrap="square" lIns="19305" tIns="66582" rIns="19305" bIns="41182" rtlCol="0" anchor="t">
            <a:normAutofit/>
          </a:bodyPr>
          <a:lstStyle/>
          <a:p>
            <a:pPr algn="ctr" indent="0" marL="0">
              <a:lnSpc>
                <a:spcPts val="1820"/>
              </a:lnSpc>
              <a:buNone/>
            </a:pPr>
            <a:r>
              <a:rPr lang="en-US" sz="1300" dirty="0">
                <a:solidFill>
                  <a:srgbClr val="EAF3F6"/>
                </a:solidFill>
                <a:latin typeface="DM Sans" pitchFamily="34" charset="0"/>
                <a:ea typeface="DM Sans" pitchFamily="34" charset="-122"/>
                <a:cs typeface="DM Sans" pitchFamily="34" charset="-120"/>
              </a:rPr>
              <a:t>Regulatory review</a:t>
            </a:r>
            <a:endParaRPr lang="en-US" sz="1300" dirty="0"/>
          </a:p>
        </p:txBody>
      </p:sp>
      <p:sp>
        <p:nvSpPr>
          <p:cNvPr id="20" name="Text 15"/>
          <p:cNvSpPr/>
          <p:nvPr/>
        </p:nvSpPr>
        <p:spPr>
          <a:xfrm>
            <a:off x="6146810" y="4784142"/>
            <a:ext cx="2457478" cy="408884"/>
          </a:xfrm>
          <a:prstGeom prst="roundRect">
            <a:avLst>
              <a:gd name="adj" fmla="val 18636"/>
            </a:avLst>
          </a:prstGeom>
          <a:solidFill>
            <a:srgbClr val="12304A"/>
          </a:solidFill>
          <a:ln/>
        </p:spPr>
        <p:txBody>
          <a:bodyPr wrap="square" lIns="19306" tIns="66582" rIns="19306" bIns="41182" rtlCol="0" anchor="t">
            <a:normAutofit/>
          </a:bodyPr>
          <a:lstStyle/>
          <a:p>
            <a:pPr algn="ctr" indent="0" marL="0">
              <a:lnSpc>
                <a:spcPts val="1820"/>
              </a:lnSpc>
              <a:buNone/>
            </a:pPr>
            <a:r>
              <a:rPr lang="en-US" sz="1300" dirty="0">
                <a:solidFill>
                  <a:srgbClr val="EAF3F6"/>
                </a:solidFill>
                <a:latin typeface="DM Sans" pitchFamily="34" charset="0"/>
                <a:ea typeface="DM Sans" pitchFamily="34" charset="-122"/>
                <a:cs typeface="DM Sans" pitchFamily="34" charset="-120"/>
              </a:rPr>
              <a:t>Data-protection review</a:t>
            </a:r>
            <a:endParaRPr lang="en-US" sz="1300" dirty="0"/>
          </a:p>
        </p:txBody>
      </p:sp>
      <p:sp>
        <p:nvSpPr>
          <p:cNvPr id="21" name="Text 16"/>
          <p:cNvSpPr/>
          <p:nvPr/>
        </p:nvSpPr>
        <p:spPr>
          <a:xfrm>
            <a:off x="8705884" y="4784142"/>
            <a:ext cx="2457478" cy="408884"/>
          </a:xfrm>
          <a:prstGeom prst="roundRect">
            <a:avLst>
              <a:gd name="adj" fmla="val 18636"/>
            </a:avLst>
          </a:prstGeom>
          <a:solidFill>
            <a:srgbClr val="12304A"/>
          </a:solidFill>
          <a:ln/>
        </p:spPr>
        <p:txBody>
          <a:bodyPr wrap="square" lIns="19306" tIns="66582" rIns="19306" bIns="41182" rtlCol="0" anchor="t">
            <a:normAutofit/>
          </a:bodyPr>
          <a:lstStyle/>
          <a:p>
            <a:pPr algn="ctr" indent="0" marL="0">
              <a:lnSpc>
                <a:spcPts val="1820"/>
              </a:lnSpc>
              <a:buNone/>
            </a:pPr>
            <a:r>
              <a:rPr lang="en-US" sz="1300" dirty="0">
                <a:solidFill>
                  <a:srgbClr val="EAF3F6"/>
                </a:solidFill>
                <a:latin typeface="DM Sans" pitchFamily="34" charset="0"/>
                <a:ea typeface="DM Sans" pitchFamily="34" charset="-122"/>
                <a:cs typeface="DM Sans" pitchFamily="34" charset="-120"/>
              </a:rPr>
              <a:t>Expert oversight</a:t>
            </a:r>
            <a:endParaRPr lang="en-US" sz="1300" dirty="0"/>
          </a:p>
        </p:txBody>
      </p:sp>
      <p:sp>
        <p:nvSpPr>
          <p:cNvPr id="22" name="Text 17"/>
          <p:cNvSpPr/>
          <p:nvPr/>
        </p:nvSpPr>
        <p:spPr>
          <a:xfrm>
            <a:off x="812759" y="6238261"/>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5A6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3" name="Text 18"/>
          <p:cNvSpPr/>
          <p:nvPr/>
        </p:nvSpPr>
        <p:spPr>
          <a:xfrm>
            <a:off x="10058403" y="6238261"/>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35A68"/>
                </a:solidFill>
                <a:latin typeface="DM Sans" pitchFamily="34" charset="0"/>
                <a:ea typeface="DM Sans" pitchFamily="34" charset="-122"/>
                <a:cs typeface="DM Sans" pitchFamily="34" charset="-120"/>
              </a:rPr>
              <a:t>13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766E"/>
        </a:solidFill>
      </p:bgPr>
    </p:bg>
    <p:spTree>
      <p:nvGrpSpPr>
        <p:cNvPr id="1" name=""/>
        <p:cNvGrpSpPr/>
        <p:nvPr/>
      </p:nvGrpSpPr>
      <p:grpSpPr>
        <a:xfrm>
          <a:off x="0" y="0"/>
          <a:ext cx="0" cy="0"/>
          <a:chOff x="0" y="0"/>
          <a:chExt cx="0" cy="0"/>
        </a:xfrm>
      </p:grpSpPr>
      <p:sp>
        <p:nvSpPr>
          <p:cNvPr id="2" name="Text 0"/>
          <p:cNvSpPr/>
          <p:nvPr/>
        </p:nvSpPr>
        <p:spPr>
          <a:xfrm>
            <a:off x="812759" y="812757"/>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5E3B3"/>
                </a:solidFill>
                <a:latin typeface="DM Sans" pitchFamily="34" charset="0"/>
                <a:ea typeface="DM Sans" pitchFamily="34" charset="-122"/>
                <a:cs typeface="DM Sans" pitchFamily="34" charset="-120"/>
              </a:rPr>
              <a:t>🚀 FUTURE SCOPE AND CALL TO ACTION</a:t>
            </a:r>
            <a:endParaRPr lang="en-US" sz="1300" dirty="0"/>
          </a:p>
        </p:txBody>
      </p:sp>
      <p:sp>
        <p:nvSpPr>
          <p:cNvPr id="3" name="Text 1"/>
          <p:cNvSpPr/>
          <p:nvPr>
            <p:ph type="title"/>
          </p:nvPr>
        </p:nvSpPr>
        <p:spPr>
          <a:xfrm>
            <a:off x="812759" y="1234356"/>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7F8"/>
                </a:solidFill>
                <a:latin typeface="DM Sans" pitchFamily="34" charset="0"/>
                <a:ea typeface="DM Sans" pitchFamily="34" charset="-122"/>
                <a:cs typeface="DM Sans" pitchFamily="34" charset="-120"/>
              </a:rPr>
              <a:t>From a research prototype to a clinical tool</a:t>
            </a:r>
            <a:endParaRPr lang="en-US" sz="3000" dirty="0"/>
          </a:p>
        </p:txBody>
      </p:sp>
      <p:sp>
        <p:nvSpPr>
          <p:cNvPr id="4" name="Shape 2"/>
          <p:cNvSpPr/>
          <p:nvPr/>
        </p:nvSpPr>
        <p:spPr>
          <a:xfrm>
            <a:off x="812759" y="1843925"/>
            <a:ext cx="3420510" cy="1602527"/>
          </a:xfrm>
          <a:prstGeom prst="roundRect">
            <a:avLst>
              <a:gd name="adj" fmla="val 7925"/>
            </a:avLst>
          </a:prstGeom>
          <a:solidFill>
            <a:srgbClr val="0B1F2E"/>
          </a:solidFill>
          <a:ln/>
        </p:spPr>
        <p:txBody>
          <a:bodyPr/>
          <a:p/>
        </p:txBody>
      </p:sp>
      <p:sp>
        <p:nvSpPr>
          <p:cNvPr id="5" name="Text 3"/>
          <p:cNvSpPr/>
          <p:nvPr/>
        </p:nvSpPr>
        <p:spPr>
          <a:xfrm>
            <a:off x="1015949" y="2021687"/>
            <a:ext cx="310455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D4BF"/>
                </a:solidFill>
                <a:latin typeface="DM Sans" pitchFamily="34" charset="0"/>
                <a:ea typeface="DM Sans" pitchFamily="34" charset="-122"/>
                <a:cs typeface="DM Sans" pitchFamily="34" charset="-120"/>
              </a:rPr>
              <a:t>Now</a:t>
            </a:r>
            <a:endParaRPr lang="en-US" sz="1700" dirty="0"/>
          </a:p>
        </p:txBody>
      </p:sp>
      <p:sp>
        <p:nvSpPr>
          <p:cNvPr id="6" name="Text 4"/>
          <p:cNvSpPr/>
          <p:nvPr/>
        </p:nvSpPr>
        <p:spPr>
          <a:xfrm>
            <a:off x="1015949" y="2344198"/>
            <a:ext cx="3104555" cy="71877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Prospective, ethics-approved validation with richer data: medications, continuous BP, UF profiles.</a:t>
            </a:r>
            <a:endParaRPr lang="en-US" sz="1300" dirty="0"/>
          </a:p>
        </p:txBody>
      </p:sp>
      <p:sp>
        <p:nvSpPr>
          <p:cNvPr id="7" name="Shape 5"/>
          <p:cNvSpPr/>
          <p:nvPr/>
        </p:nvSpPr>
        <p:spPr>
          <a:xfrm>
            <a:off x="4385662" y="1843925"/>
            <a:ext cx="3420575" cy="1602527"/>
          </a:xfrm>
          <a:prstGeom prst="roundRect">
            <a:avLst>
              <a:gd name="adj" fmla="val 7925"/>
            </a:avLst>
          </a:prstGeom>
          <a:solidFill>
            <a:srgbClr val="0B1F2E"/>
          </a:solidFill>
          <a:ln/>
        </p:spPr>
        <p:txBody>
          <a:bodyPr/>
          <a:p/>
        </p:txBody>
      </p:sp>
      <p:sp>
        <p:nvSpPr>
          <p:cNvPr id="8" name="Text 6"/>
          <p:cNvSpPr/>
          <p:nvPr/>
        </p:nvSpPr>
        <p:spPr>
          <a:xfrm>
            <a:off x="4588851" y="2021687"/>
            <a:ext cx="310462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D4BF"/>
                </a:solidFill>
                <a:latin typeface="DM Sans" pitchFamily="34" charset="0"/>
                <a:ea typeface="DM Sans" pitchFamily="34" charset="-122"/>
                <a:cs typeface="DM Sans" pitchFamily="34" charset="-120"/>
              </a:rPr>
              <a:t>Next</a:t>
            </a:r>
            <a:endParaRPr lang="en-US" sz="1700" dirty="0"/>
          </a:p>
        </p:txBody>
      </p:sp>
      <p:sp>
        <p:nvSpPr>
          <p:cNvPr id="9" name="Text 7"/>
          <p:cNvSpPr/>
          <p:nvPr/>
        </p:nvSpPr>
        <p:spPr>
          <a:xfrm>
            <a:off x="4588851" y="2344198"/>
            <a:ext cx="3104621" cy="9499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Hierarchical Bayesian pooling and a better observation model for sparse readings. Clinician usability study. Real wearable and weather feeds.</a:t>
            </a:r>
            <a:endParaRPr lang="en-US" sz="1300" dirty="0"/>
          </a:p>
        </p:txBody>
      </p:sp>
      <p:sp>
        <p:nvSpPr>
          <p:cNvPr id="10" name="Shape 8"/>
          <p:cNvSpPr/>
          <p:nvPr/>
        </p:nvSpPr>
        <p:spPr>
          <a:xfrm>
            <a:off x="7958628" y="1843925"/>
            <a:ext cx="3420575" cy="1602527"/>
          </a:xfrm>
          <a:prstGeom prst="roundRect">
            <a:avLst>
              <a:gd name="adj" fmla="val 7925"/>
            </a:avLst>
          </a:prstGeom>
          <a:solidFill>
            <a:srgbClr val="0B1F2E"/>
          </a:solidFill>
          <a:ln/>
        </p:spPr>
        <p:txBody>
          <a:bodyPr/>
          <a:p/>
        </p:txBody>
      </p:sp>
      <p:sp>
        <p:nvSpPr>
          <p:cNvPr id="11" name="Text 9"/>
          <p:cNvSpPr/>
          <p:nvPr/>
        </p:nvSpPr>
        <p:spPr>
          <a:xfrm>
            <a:off x="8161818" y="2021687"/>
            <a:ext cx="310462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D4BF"/>
                </a:solidFill>
                <a:latin typeface="DM Sans" pitchFamily="34" charset="0"/>
                <a:ea typeface="DM Sans" pitchFamily="34" charset="-122"/>
                <a:cs typeface="DM Sans" pitchFamily="34" charset="-120"/>
              </a:rPr>
              <a:t>Later</a:t>
            </a:r>
            <a:endParaRPr lang="en-US" sz="1700" dirty="0"/>
          </a:p>
        </p:txBody>
      </p:sp>
      <p:sp>
        <p:nvSpPr>
          <p:cNvPr id="12" name="Text 10"/>
          <p:cNvSpPr/>
          <p:nvPr/>
        </p:nvSpPr>
        <p:spPr>
          <a:xfrm>
            <a:off x="8161818" y="2344198"/>
            <a:ext cx="3104621" cy="71877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F3F6"/>
                </a:solidFill>
                <a:latin typeface="DM Sans" pitchFamily="34" charset="0"/>
                <a:ea typeface="DM Sans" pitchFamily="34" charset="-122"/>
                <a:cs typeface="DM Sans" pitchFamily="34" charset="-120"/>
              </a:rPr>
              <a:t>Calibration monitoring, the SaMD submission, and machine and EHR partnerships.</a:t>
            </a:r>
            <a:endParaRPr lang="en-US" sz="1300" dirty="0"/>
          </a:p>
        </p:txBody>
      </p:sp>
      <p:sp>
        <p:nvSpPr>
          <p:cNvPr id="13" name="Shape 11"/>
          <p:cNvSpPr/>
          <p:nvPr/>
        </p:nvSpPr>
        <p:spPr>
          <a:xfrm>
            <a:off x="812759" y="3636931"/>
            <a:ext cx="10566444" cy="1193772"/>
          </a:xfrm>
          <a:prstGeom prst="roundRect">
            <a:avLst>
              <a:gd name="adj" fmla="val 10639"/>
            </a:avLst>
          </a:prstGeom>
          <a:solidFill>
            <a:srgbClr val="F3F7F8"/>
          </a:solidFill>
          <a:ln/>
        </p:spPr>
        <p:txBody>
          <a:bodyPr/>
          <a:p/>
        </p:txBody>
      </p:sp>
      <p:sp>
        <p:nvSpPr>
          <p:cNvPr id="14" name="Text 12"/>
          <p:cNvSpPr/>
          <p:nvPr/>
        </p:nvSpPr>
        <p:spPr>
          <a:xfrm>
            <a:off x="1066746" y="3840119"/>
            <a:ext cx="6043547" cy="29974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2E"/>
                </a:solidFill>
                <a:latin typeface="DM Sans" pitchFamily="34" charset="0"/>
                <a:ea typeface="DM Sans" pitchFamily="34" charset="-122"/>
                <a:cs typeface="DM Sans" pitchFamily="34" charset="-120"/>
              </a:rPr>
              <a:t>Partner with us</a:t>
            </a:r>
            <a:endParaRPr lang="en-US" sz="1800" dirty="0"/>
          </a:p>
        </p:txBody>
      </p:sp>
      <p:sp>
        <p:nvSpPr>
          <p:cNvPr id="15" name="Text 13"/>
          <p:cNvSpPr/>
          <p:nvPr/>
        </p:nvSpPr>
        <p:spPr>
          <a:xfrm>
            <a:off x="1066746" y="4165259"/>
            <a:ext cx="5486400" cy="487650"/>
          </a:xfrm>
          <a:prstGeom prst="rect">
            <a:avLst/>
          </a:prstGeom>
          <a:noFill/>
          <a:ln/>
        </p:spPr>
        <p:txBody>
          <a:bodyPr wrap="square" lIns="0" tIns="0" rIns="0" bIns="0" rtlCol="0" anchor="t">
            <a:noAutofit/>
          </a:bodyPr>
          <a:lstStyle/>
          <a:p>
            <a:pPr algn="l" indent="0" marL="0">
              <a:lnSpc>
                <a:spcPts val="1820"/>
              </a:lnSpc>
              <a:buNone/>
            </a:pPr>
            <a:r>
              <a:rPr lang="en-US" sz="1300" dirty="0">
                <a:solidFill>
                  <a:srgbClr val="0B1F2E"/>
                </a:solidFill>
                <a:latin typeface="DM Sans" pitchFamily="34" charset="0"/>
                <a:ea typeface="DM Sans" pitchFamily="34" charset="-122"/>
                <a:cs typeface="DM Sans" pitchFamily="34" charset="-120"/>
              </a:rPr>
              <a:t>We seek </a:t>
            </a:r>
            <a:r>
              <a:rPr lang="en-US" sz="1300" b="1" dirty="0">
                <a:solidFill>
                  <a:srgbClr val="0B1F2E"/>
                </a:solidFill>
                <a:latin typeface="DM Sans" pitchFamily="34" charset="0"/>
                <a:ea typeface="DM Sans" pitchFamily="34" charset="-122"/>
                <a:cs typeface="DM Sans" pitchFamily="34" charset="-120"/>
              </a:rPr>
              <a:t>clinic partners</a:t>
            </a:r>
            <a:r>
              <a:rPr lang="en-US" sz="1300" dirty="0">
                <a:solidFill>
                  <a:srgbClr val="0B1F2E"/>
                </a:solidFill>
                <a:latin typeface="DM Sans" pitchFamily="34" charset="0"/>
                <a:ea typeface="DM Sans" pitchFamily="34" charset="-122"/>
                <a:cs typeface="DM Sans" pitchFamily="34" charset="-120"/>
              </a:rPr>
              <a:t> for the Phase 1 study, </a:t>
            </a:r>
            <a:r>
              <a:rPr lang="en-US" sz="1300" b="1" dirty="0">
                <a:solidFill>
                  <a:srgbClr val="0B1F2E"/>
                </a:solidFill>
                <a:latin typeface="DM Sans" pitchFamily="34" charset="0"/>
                <a:ea typeface="DM Sans" pitchFamily="34" charset="-122"/>
                <a:cs typeface="DM Sans" pitchFamily="34" charset="-120"/>
              </a:rPr>
              <a:t>nephrology advisors</a:t>
            </a:r>
            <a:r>
              <a:rPr lang="en-US" sz="1300" dirty="0">
                <a:solidFill>
                  <a:srgbClr val="0B1F2E"/>
                </a:solidFill>
                <a:latin typeface="DM Sans" pitchFamily="34" charset="0"/>
                <a:ea typeface="DM Sans" pitchFamily="34" charset="-122"/>
                <a:cs typeface="DM Sans" pitchFamily="34" charset="-120"/>
              </a:rPr>
              <a:t>, and </a:t>
            </a:r>
            <a:r>
              <a:rPr lang="en-US" sz="1300" b="1" dirty="0">
                <a:solidFill>
                  <a:srgbClr val="0B1F2E"/>
                </a:solidFill>
                <a:latin typeface="DM Sans" pitchFamily="34" charset="0"/>
                <a:ea typeface="DM Sans" pitchFamily="34" charset="-122"/>
                <a:cs typeface="DM Sans" pitchFamily="34" charset="-120"/>
              </a:rPr>
              <a:t>seed funding for the Phase 1 study</a:t>
            </a:r>
            <a:r>
              <a:rPr lang="en-US" sz="1300" dirty="0">
                <a:solidFill>
                  <a:srgbClr val="0B1F2E"/>
                </a:solidFill>
                <a:latin typeface="DM Sans" pitchFamily="34" charset="0"/>
                <a:ea typeface="DM Sans" pitchFamily="34" charset="-122"/>
                <a:cs typeface="DM Sans" pitchFamily="34" charset="-120"/>
              </a:rPr>
              <a:t>.</a:t>
            </a:r>
            <a:endParaRPr lang="en-US" sz="1300" dirty="0"/>
          </a:p>
        </p:txBody>
      </p:sp>
      <p:sp>
        <p:nvSpPr>
          <p:cNvPr id="16" name="Text 14"/>
          <p:cNvSpPr/>
          <p:nvPr/>
        </p:nvSpPr>
        <p:spPr>
          <a:xfrm>
            <a:off x="6858000" y="3767328"/>
            <a:ext cx="4480560" cy="274320"/>
          </a:xfrm>
          <a:prstGeom prst="rect">
            <a:avLst/>
          </a:prstGeom>
          <a:noFill/>
          <a:ln/>
        </p:spPr>
        <p:txBody>
          <a:bodyPr wrap="square" lIns="0" tIns="0" rIns="0" bIns="0" rtlCol="0" anchor="t">
            <a:noAutofit/>
          </a:bodyPr>
          <a:lstStyle/>
          <a:p>
            <a:pPr algn="l" indent="0" marL="0">
              <a:lnSpc>
                <a:spcPts val="1820"/>
              </a:lnSpc>
              <a:buNone/>
            </a:pPr>
            <a:r>
              <a:rPr lang="en-US" sz="1100" b="1" dirty="0">
                <a:solidFill>
                  <a:srgbClr val="0B1F2E"/>
                </a:solidFill>
                <a:latin typeface="DM Sans" pitchFamily="34" charset="0"/>
                <a:ea typeface="DM Sans" pitchFamily="34" charset="-122"/>
                <a:cs typeface="DM Sans" pitchFamily="34" charset="-120"/>
              </a:rPr>
              <a:t>Repo (MIT):</a:t>
            </a:r>
            <a:r>
              <a:rPr lang="en-US" sz="1100" dirty="0">
                <a:solidFill>
                  <a:srgbClr val="0B1F2E"/>
                </a:solidFill>
                <a:latin typeface="DM Sans" pitchFamily="34" charset="0"/>
                <a:ea typeface="DM Sans" pitchFamily="34" charset="-122"/>
                <a:cs typeface="DM Sans" pitchFamily="34" charset="-120"/>
              </a:rPr>
              <a:t> github.com/Shada0/NephroTwin-AI</a:t>
            </a:r>
            <a:endParaRPr lang="en-US" sz="1300" dirty="0"/>
          </a:p>
        </p:txBody>
      </p:sp>
      <p:sp>
        <p:nvSpPr>
          <p:cNvPr id="17" name="Text 15"/>
          <p:cNvSpPr/>
          <p:nvPr/>
        </p:nvSpPr>
        <p:spPr>
          <a:xfrm>
            <a:off x="6858000" y="4114800"/>
            <a:ext cx="4480560" cy="274320"/>
          </a:xfrm>
          <a:prstGeom prst="rect">
            <a:avLst/>
          </a:prstGeom>
          <a:noFill/>
          <a:ln/>
        </p:spPr>
        <p:txBody>
          <a:bodyPr wrap="square" lIns="0" tIns="0" rIns="0" bIns="0" rtlCol="0" anchor="t">
            <a:noAutofit/>
          </a:bodyPr>
          <a:lstStyle/>
          <a:p>
            <a:pPr algn="l" indent="0" marL="0">
              <a:lnSpc>
                <a:spcPts val="1820"/>
              </a:lnSpc>
              <a:buNone/>
            </a:pPr>
            <a:r>
              <a:rPr lang="en-US" sz="1100" b="1" dirty="0">
                <a:solidFill>
                  <a:srgbClr val="0B1F2E"/>
                </a:solidFill>
                <a:latin typeface="DM Sans" pitchFamily="34" charset="0"/>
                <a:ea typeface="DM Sans" pitchFamily="34" charset="-122"/>
                <a:cs typeface="DM Sans" pitchFamily="34" charset="-120"/>
              </a:rPr>
              <a:t>Demo video:</a:t>
            </a:r>
            <a:r>
              <a:rPr lang="en-US" sz="1100" dirty="0">
                <a:solidFill>
                  <a:srgbClr val="0B1F2E"/>
                </a:solidFill>
                <a:latin typeface="DM Sans" pitchFamily="34" charset="0"/>
                <a:ea typeface="DM Sans" pitchFamily="34" charset="-122"/>
                <a:cs typeface="DM Sans" pitchFamily="34" charset="-120"/>
              </a:rPr>
              <a:t> [INSERT YOUTUBE UNLISTED VIDEO LINK HERE]</a:t>
            </a:r>
            <a:endParaRPr lang="en-US" sz="1300" dirty="0"/>
          </a:p>
        </p:txBody>
      </p:sp>
      <p:sp>
        <p:nvSpPr>
          <p:cNvPr id="18" name="Text 16"/>
          <p:cNvSpPr/>
          <p:nvPr/>
        </p:nvSpPr>
        <p:spPr>
          <a:xfrm>
            <a:off x="6858000" y="4462272"/>
            <a:ext cx="4480560" cy="274320"/>
          </a:xfrm>
          <a:prstGeom prst="rect">
            <a:avLst/>
          </a:prstGeom>
          <a:noFill/>
          <a:ln/>
        </p:spPr>
        <p:txBody>
          <a:bodyPr wrap="square" lIns="0" tIns="0" rIns="0" bIns="0" rtlCol="0" anchor="t">
            <a:noAutofit/>
          </a:bodyPr>
          <a:lstStyle/>
          <a:p>
            <a:pPr algn="l" indent="0" marL="0">
              <a:lnSpc>
                <a:spcPts val="1820"/>
              </a:lnSpc>
              <a:buNone/>
            </a:pPr>
            <a:r>
              <a:rPr lang="en-US" sz="1100" b="1" dirty="0">
                <a:solidFill>
                  <a:srgbClr val="0B1F2E"/>
                </a:solidFill>
                <a:latin typeface="DM Sans" pitchFamily="34" charset="0"/>
                <a:ea typeface="DM Sans" pitchFamily="34" charset="-122"/>
                <a:cs typeface="DM Sans" pitchFamily="34" charset="-120"/>
              </a:rPr>
              <a:t>Pitch deck:</a:t>
            </a:r>
            <a:r>
              <a:rPr lang="en-US" sz="1100" dirty="0">
                <a:solidFill>
                  <a:srgbClr val="0B1F2E"/>
                </a:solidFill>
                <a:latin typeface="DM Sans" pitchFamily="34" charset="0"/>
                <a:ea typeface="DM Sans" pitchFamily="34" charset="-122"/>
                <a:cs typeface="DM Sans" pitchFamily="34" charset="-120"/>
              </a:rPr>
              <a:t> [INSERT GOOGLE DRIVE PITCH DECK LINK HERE]</a:t>
            </a:r>
            <a:endParaRPr lang="en-US" sz="1300" dirty="0"/>
          </a:p>
        </p:txBody>
      </p:sp>
      <p:sp>
        <p:nvSpPr>
          <p:cNvPr id="19" name="Text 17"/>
          <p:cNvSpPr/>
          <p:nvPr/>
        </p:nvSpPr>
        <p:spPr>
          <a:xfrm>
            <a:off x="812759" y="6238261"/>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7F8"/>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0" name="Text 18"/>
          <p:cNvSpPr/>
          <p:nvPr/>
        </p:nvSpPr>
        <p:spPr>
          <a:xfrm>
            <a:off x="10058403" y="6238261"/>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3F7F8"/>
                </a:solidFill>
                <a:latin typeface="DM Sans" pitchFamily="34" charset="0"/>
                <a:ea typeface="DM Sans" pitchFamily="34" charset="-122"/>
                <a:cs typeface="DM Sans" pitchFamily="34" charset="-120"/>
              </a:rPr>
              <a:t>14 / 14</a:t>
            </a:r>
            <a:endParaRPr lang="en-US" sz="1200" dirty="0"/>
          </a:p>
        </p:txBody>
      </p:sp>
      <p:sp>
        <p:nvSpPr>
          <p:cNvPr id="21" name="TextBox 20"/>
          <p:cNvSpPr txBox="1"/>
          <p:nvPr/>
        </p:nvSpPr>
        <p:spPr>
          <a:xfrm>
            <a:off x="813816" y="5029200"/>
            <a:ext cx="10570464" cy="640080"/>
          </a:xfrm>
          <a:prstGeom prst="rect">
            <a:avLst/>
          </a:prstGeom>
          <a:noFill/>
        </p:spPr>
        <p:txBody>
          <a:bodyPr wrap="square" lIns="0" rIns="0" tIns="0" bIns="0">
            <a:spAutoFit/>
          </a:bodyPr>
          <a:lstStyle/>
          <a:p>
            <a:r>
              <a:rPr sz="1200" b="0">
                <a:solidFill>
                  <a:srgbClr val="FFFFFF"/>
                </a:solidFill>
                <a:latin typeface="DM Sans"/>
              </a:rPr>
              <a:t>Team ZWEIKERN: Shada Ali Kuzhikattil (Lead Architect, AI Engineer) and Rushdha V (Clinical Informatics, UI/UX). Vel Tech Rangarajan Dr. Sagunthala R&amp;D Institute of Science and Technology, Chennai.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2E"/>
        </a:solidFill>
      </p:bgPr>
    </p:bg>
    <p:spTree>
      <p:nvGrpSpPr>
        <p:cNvPr id="1" name=""/>
        <p:cNvGrpSpPr/>
        <p:nvPr/>
      </p:nvGrpSpPr>
      <p:grpSpPr/>
      <p:sp>
        <p:nvSpPr>
          <p:cNvPr id="2" name="Text 0"/>
          <p:cNvSpPr/>
          <p:nvPr/>
        </p:nvSpPr>
        <p:spPr>
          <a:xfrm>
            <a:off x="812759" y="812760"/>
            <a:ext cx="10883438" cy="25652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DM Sans" pitchFamily="34" charset="0"/>
                <a:ea typeface="DM Sans" pitchFamily="34" charset="-122"/>
                <a:cs typeface="DM Sans" pitchFamily="34" charset="-120"/>
              </a:rPr>
              <a:t>🏥 DASHBOARD IN ACTION</a:t>
            </a:r>
            <a:endParaRPr lang="en-US" sz="1300" dirty="0"/>
          </a:p>
        </p:txBody>
      </p:sp>
      <p:sp>
        <p:nvSpPr>
          <p:cNvPr id="3" name="Text 1"/>
          <p:cNvSpPr/>
          <p:nvPr>
            <p:ph type="title"/>
          </p:nvPr>
        </p:nvSpPr>
        <p:spPr>
          <a:xfrm>
            <a:off x="812759" y="1247074"/>
            <a:ext cx="10883438" cy="444495"/>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EAF3F6"/>
                </a:solidFill>
                <a:latin typeface="DM Sans" pitchFamily="34" charset="0"/>
                <a:ea typeface="DM Sans" pitchFamily="34" charset="-122"/>
                <a:cs typeface="DM Sans" pitchFamily="34" charset="-120"/>
              </a:rPr>
              <a:t>Ravi: 4% baseline risk becomes 55% in a heat wave</a:t>
            </a:r>
            <a:endParaRPr lang="en-US" sz="3000" dirty="0"/>
          </a:p>
        </p:txBody>
      </p:sp>
      <p:sp>
        <p:nvSpPr>
          <p:cNvPr id="20" name="Text 18"/>
          <p:cNvSpPr/>
          <p:nvPr/>
        </p:nvSpPr>
        <p:spPr>
          <a:xfrm>
            <a:off x="812759" y="6238258"/>
            <a:ext cx="915670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D0"/>
                </a:solidFill>
                <a:latin typeface="DM Sans" pitchFamily="34" charset="0"/>
                <a:ea typeface="DM Sans" pitchFamily="34" charset="-122"/>
                <a:cs typeface="DM Sans" pitchFamily="34" charset="-120"/>
              </a:rPr>
              <a:t>NephroTwin AI · ZWEIKERN · Simulated research prototype, not a medical device</a:t>
            </a:r>
            <a:endParaRPr lang="en-US" sz="1200" dirty="0"/>
          </a:p>
        </p:txBody>
      </p:sp>
      <p:sp>
        <p:nvSpPr>
          <p:cNvPr id="21" name="Text 19"/>
          <p:cNvSpPr/>
          <p:nvPr/>
        </p:nvSpPr>
        <p:spPr>
          <a:xfrm>
            <a:off x="10058403" y="6238258"/>
            <a:ext cx="1320800" cy="238736"/>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D0"/>
                </a:solidFill>
                <a:latin typeface="DM Sans" pitchFamily="34" charset="0"/>
                <a:ea typeface="DM Sans" pitchFamily="34" charset="-122"/>
                <a:cs typeface="DM Sans" pitchFamily="34" charset="-120"/>
              </a:rPr>
              <a:t>8 / 14</a:t>
            </a:r>
            <a:endParaRPr lang="en-US" sz="1200" dirty="0"/>
          </a:p>
        </p:txBody>
      </p:sp>
      <p:pic>
        <p:nvPicPr>
          <p:cNvPr id="22" name="Picture 21" descr="ravi_baseline_vs_heatwave.png"/>
          <p:cNvPicPr>
            <a:picLocks noChangeAspect="1"/>
          </p:cNvPicPr>
          <p:nvPr/>
        </p:nvPicPr>
        <p:blipFill>
          <a:blip r:embed="rId2"/>
          <a:stretch>
            <a:fillRect/>
          </a:stretch>
        </p:blipFill>
        <p:spPr>
          <a:xfrm>
            <a:off x="813816" y="1874519"/>
            <a:ext cx="5162204" cy="3154680"/>
          </a:xfrm>
          <a:prstGeom prst="rect">
            <a:avLst/>
          </a:prstGeom>
        </p:spPr>
      </p:pic>
      <p:pic>
        <p:nvPicPr>
          <p:cNvPr id="23" name="Picture 22" descr="real_roc_comparison.png"/>
          <p:cNvPicPr>
            <a:picLocks noChangeAspect="1"/>
          </p:cNvPicPr>
          <p:nvPr/>
        </p:nvPicPr>
        <p:blipFill>
          <a:blip r:embed="rId3"/>
          <a:stretch>
            <a:fillRect/>
          </a:stretch>
        </p:blipFill>
        <p:spPr>
          <a:xfrm>
            <a:off x="6720840" y="1874519"/>
            <a:ext cx="4301836" cy="3154680"/>
          </a:xfrm>
          <a:prstGeom prst="rect">
            <a:avLst/>
          </a:prstGeom>
        </p:spPr>
      </p:pic>
      <p:sp>
        <p:nvSpPr>
          <p:cNvPr id="24" name="TextBox 23"/>
          <p:cNvSpPr txBox="1"/>
          <p:nvPr/>
        </p:nvSpPr>
        <p:spPr>
          <a:xfrm>
            <a:off x="813816" y="5138928"/>
            <a:ext cx="5669280" cy="822960"/>
          </a:xfrm>
          <a:prstGeom prst="rect">
            <a:avLst/>
          </a:prstGeom>
          <a:noFill/>
        </p:spPr>
        <p:txBody>
          <a:bodyPr wrap="square" lIns="0" rIns="0" tIns="0" bIns="0">
            <a:spAutoFit/>
          </a:bodyPr>
          <a:lstStyle/>
          <a:p>
            <a:r>
              <a:rPr sz="1100" b="0">
                <a:solidFill>
                  <a:srgbClr val="E8F1F8"/>
                </a:solidFill>
                <a:latin typeface="DM Sans"/>
              </a:rPr>
              <a:t>Guided demo, step 5. The twin recomputes live: the same plan scores 4% (Green) at baseline and 55% with the synthetic heat-wave input. Shaded band = 10th to 90th percentile. Synthetic patient, demonstration input.</a:t>
            </a:r>
          </a:p>
        </p:txBody>
      </p:sp>
      <p:sp>
        <p:nvSpPr>
          <p:cNvPr id="25" name="TextBox 24"/>
          <p:cNvSpPr txBox="1"/>
          <p:nvPr/>
        </p:nvSpPr>
        <p:spPr>
          <a:xfrm>
            <a:off x="6720840" y="5138928"/>
            <a:ext cx="4663440" cy="822960"/>
          </a:xfrm>
          <a:prstGeom prst="rect">
            <a:avLst/>
          </a:prstGeom>
          <a:noFill/>
        </p:spPr>
        <p:txBody>
          <a:bodyPr wrap="square" lIns="0" rIns="0" tIns="0" bIns="0">
            <a:spAutoFit/>
          </a:bodyPr>
          <a:lstStyle/>
          <a:p>
            <a:r>
              <a:rPr sz="1100" b="0">
                <a:solidFill>
                  <a:srgbClr val="E8F1F8"/>
                </a:solidFill>
                <a:latin typeface="DM Sans"/>
              </a:rPr>
              <a:t>Real-data validation (HEMOBP). The hybrid edges the standard model (0.871 vs 0.863) while adding physiology and what-if simulation; the twin alone trails. We report that openly.</a:t>
            </a:r>
          </a:p>
        </p:txBody>
      </p:sp>
    </p:spTree>
  </p:cSld>
  <p:clrMapOvr>
    <a:masterClrMapping/>
  </p:clrMapOvr>
</p:sld>
</file>

<file path=ppt/theme/theme1.xml><?xml version="1.0" encoding="utf-8"?>
<a:theme xmlns:a="http://schemas.openxmlformats.org/drawingml/2006/main" name="NephroTwin AI Pitch Deck">
  <a:themeElements>
    <a:clrScheme name="NephroTwin AI Pitch Deck">
      <a:dk1>
        <a:srgbClr val="0B1F2E"/>
      </a:dk1>
      <a:lt1>
        <a:srgbClr val="EAF3F6"/>
      </a:lt1>
      <a:dk2>
        <a:srgbClr val="213442"/>
      </a:dk2>
      <a:lt2>
        <a:srgbClr val="B2BEC4"/>
      </a:lt2>
      <a:accent1>
        <a:srgbClr val="2DD4BF"/>
      </a:accent1>
      <a:accent2>
        <a:srgbClr val="12304A"/>
      </a:accent2>
      <a:accent3>
        <a:srgbClr val="A9C3D0"/>
      </a:accent3>
      <a:accent4>
        <a:srgbClr val="0F766E"/>
      </a:accent4>
      <a:accent5>
        <a:srgbClr val="FDF0D5"/>
      </a:accent5>
      <a:accent6>
        <a:srgbClr val="F5B83D"/>
      </a:accent6>
      <a:hlink>
        <a:srgbClr val="0563C1"/>
      </a:hlink>
      <a:folHlink>
        <a:srgbClr val="954F72"/>
      </a:folHlink>
    </a:clrScheme>
    <a:fontScheme name="NephroTwin AI Pitch Deck">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NephroTwin AI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2026-10-24T12:15:33Z</dcterms:created>
  <dcterms:modified xsi:type="dcterms:W3CDTF">2026-10-24T12:15:33Z</dcterms:modified>
</cp:coreProperties>
</file>